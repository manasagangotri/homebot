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4630400" cy="8229600"/>
  <p:notesSz cx="8229600" cy="14630400"/>
  <p:embeddedFontLst>
    <p:embeddedFont>
      <p:font typeface="Alice"/>
      <p:regular r:id="rId43"/>
    </p:embeddedFont>
    <p:embeddedFont>
      <p:font typeface="Alice"/>
      <p:regular r:id="rId44"/>
    </p:embeddedFont>
    <p:embeddedFont>
      <p:font typeface="Lora"/>
      <p:regular r:id="rId45"/>
    </p:embeddedFont>
    <p:embeddedFont>
      <p:font typeface="Lora"/>
      <p:regular r:id="rId46"/>
    </p:embeddedFont>
    <p:embeddedFont>
      <p:font typeface="Lora"/>
      <p:regular r:id="rId47"/>
    </p:embeddedFont>
    <p:embeddedFont>
      <p:font typeface="Lora"/>
      <p:regular r:id="rId4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font" Target="fonts/font1.fntdata"/><Relationship Id="rId44" Type="http://schemas.openxmlformats.org/officeDocument/2006/relationships/font" Target="fonts/font2.fntdata"/><Relationship Id="rId45" Type="http://schemas.openxmlformats.org/officeDocument/2006/relationships/font" Target="fonts/font3.fntdata"/><Relationship Id="rId46" Type="http://schemas.openxmlformats.org/officeDocument/2006/relationships/font" Target="fonts/font4.fntdata"/><Relationship Id="rId47" Type="http://schemas.openxmlformats.org/officeDocument/2006/relationships/font" Target="fonts/font5.fntdata"/><Relationship Id="rId48"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1-1.pn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2-1.png"/><Relationship Id="rId3"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3-1.pn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4-1.pn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5-1.png"/><Relationship Id="rId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6-1.png"/><Relationship Id="rId3"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7-1.png"/><Relationship Id="rId3"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8-1.png"/><Relationship Id="rId3"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9-1.png"/><Relationship Id="rId3"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0-1.png"/><Relationship Id="rId3"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1-1.png"/><Relationship Id="rId3"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2-1.png"/><Relationship Id="rId3"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3-1.png"/><Relationship Id="rId3"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4-1.png"/><Relationship Id="rId3"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5-1.png"/><Relationship Id="rId3"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6-1.png"/><Relationship Id="rId3"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3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dn.gamma.app/tace6yjbyx4hjcn/897ca93833ca420f89a4637fc7937945/original/Disease_Detection_Using_RASA_Chatbot.pdf" TargetMode="External"/><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dn.gamma.app/tace6yjbyx4hjcn/34e5945011194eb78207588e3d5459fe/original/recommender-system-for-home-remedy-IJERTV11IS040154.pdf" TargetMode="External"/><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rasa.com/docs/rasa-pro/" TargetMode="External"/><Relationship Id="rId2" Type="http://schemas.openxmlformats.org/officeDocument/2006/relationships/hyperlink" Target="https://medium.com/@pinakdatta/building-and-deploying-a-chatbot-from-scratch-using-rasa-framework-a-complete-guide-for-beginners-4a5f87c40dda" TargetMode="External"/><Relationship Id="rId3" Type="http://schemas.openxmlformats.org/officeDocument/2006/relationships/hyperlink" Target="https://quickblox.com/blog/step-by-step-guide-for-developing-a-chatbot-for-healthcare-apps/" TargetMode="External"/><Relationship Id="rId4" Type="http://schemas.openxmlformats.org/officeDocument/2006/relationships/hyperlink" Target="https://medium.com/cyberark-engineering/a-developer-guide-for-creating-a-multi-modal-chatbot-using-langchain-agents-9003ba0ffb4d" TargetMode="External"/><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datasets/shivanshmittal22/home-remedies" TargetMode="External"/><Relationship Id="rId5" Type="http://schemas.openxmlformats.org/officeDocument/2006/relationships/hyperlink" Target="https://www.medindia.net/health/homeremedies/index.htm"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9.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0.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3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7.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03540"/>
            <a:ext cx="7556421" cy="1956435"/>
          </a:xfrm>
          <a:prstGeom prst="rect">
            <a:avLst/>
          </a:prstGeom>
          <a:noFill/>
          <a:ln/>
        </p:spPr>
        <p:txBody>
          <a:bodyPr wrap="square" lIns="0" tIns="0" rIns="0" bIns="0" rtlCol="0" anchor="t"/>
          <a:lstStyle/>
          <a:p>
            <a:pPr algn="l" indent="0" marL="0">
              <a:lnSpc>
                <a:spcPts val="7700"/>
              </a:lnSpc>
              <a:buNone/>
            </a:pPr>
            <a:r>
              <a:rPr lang="en-US" sz="6150" dirty="0">
                <a:solidFill>
                  <a:srgbClr val="233E32"/>
                </a:solidFill>
                <a:latin typeface="Alice" pitchFamily="34" charset="0"/>
                <a:ea typeface="Alice" pitchFamily="34" charset="-122"/>
                <a:cs typeface="Alice" pitchFamily="34" charset="-120"/>
              </a:rPr>
              <a:t>Healthcare Chatbot For  Home Remedies</a:t>
            </a:r>
            <a:endParaRPr lang="en-US" sz="6150" dirty="0"/>
          </a:p>
        </p:txBody>
      </p:sp>
      <p:sp>
        <p:nvSpPr>
          <p:cNvPr id="4" name="Text 1"/>
          <p:cNvSpPr/>
          <p:nvPr/>
        </p:nvSpPr>
        <p:spPr>
          <a:xfrm>
            <a:off x="793790" y="4900136"/>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This presentation outlines the development of a Health chatbot designed to provide health solutions for common daily life ailments.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41414"/>
          </a:xfrm>
          <a:prstGeom prst="rect">
            <a:avLst/>
          </a:prstGeom>
        </p:spPr>
      </p:pic>
      <p:sp>
        <p:nvSpPr>
          <p:cNvPr id="3" name="Text 0"/>
          <p:cNvSpPr/>
          <p:nvPr/>
        </p:nvSpPr>
        <p:spPr>
          <a:xfrm>
            <a:off x="767596" y="3345894"/>
            <a:ext cx="8544997" cy="685324"/>
          </a:xfrm>
          <a:prstGeom prst="rect">
            <a:avLst/>
          </a:prstGeom>
          <a:noFill/>
          <a:ln/>
        </p:spPr>
        <p:txBody>
          <a:bodyPr wrap="none" lIns="0" tIns="0" rIns="0" bIns="0" rtlCol="0" anchor="t"/>
          <a:lstStyle/>
          <a:p>
            <a:pPr algn="l" indent="0" marL="0">
              <a:lnSpc>
                <a:spcPts val="5350"/>
              </a:lnSpc>
              <a:buNone/>
            </a:pPr>
            <a:r>
              <a:rPr lang="en-US" sz="4300" dirty="0">
                <a:solidFill>
                  <a:srgbClr val="233E32"/>
                </a:solidFill>
                <a:latin typeface="Alice" pitchFamily="34" charset="0"/>
                <a:ea typeface="Alice" pitchFamily="34" charset="-122"/>
                <a:cs typeface="Alice" pitchFamily="34" charset="-120"/>
              </a:rPr>
              <a:t>                             </a:t>
            </a:r>
            <a:pPr algn="l" indent="0" marL="0">
              <a:lnSpc>
                <a:spcPts val="5350"/>
              </a:lnSpc>
              <a:buNone/>
            </a:pPr>
            <a:r>
              <a:rPr lang="en-US" sz="4300" b="1" dirty="0">
                <a:solidFill>
                  <a:srgbClr val="233E32"/>
                </a:solidFill>
                <a:latin typeface="Alice" pitchFamily="34" charset="0"/>
                <a:ea typeface="Alice" pitchFamily="34" charset="-122"/>
                <a:cs typeface="Alice" pitchFamily="34" charset="-120"/>
              </a:rPr>
              <a:t>  Problem Statement</a:t>
            </a:r>
            <a:endParaRPr lang="en-US" sz="4300" dirty="0"/>
          </a:p>
        </p:txBody>
      </p:sp>
      <p:sp>
        <p:nvSpPr>
          <p:cNvPr id="4" name="Text 1"/>
          <p:cNvSpPr/>
          <p:nvPr/>
        </p:nvSpPr>
        <p:spPr>
          <a:xfrm>
            <a:off x="767596" y="4360188"/>
            <a:ext cx="13095208" cy="1052632"/>
          </a:xfrm>
          <a:prstGeom prst="rect">
            <a:avLst/>
          </a:prstGeom>
          <a:noFill/>
          <a:ln/>
        </p:spPr>
        <p:txBody>
          <a:bodyPr wrap="square" lIns="0" tIns="0" rIns="0" bIns="0" rtlCol="0" anchor="t"/>
          <a:lstStyle/>
          <a:p>
            <a:pPr algn="l" indent="0" marL="0">
              <a:lnSpc>
                <a:spcPts val="2750"/>
              </a:lnSpc>
              <a:buNone/>
            </a:pPr>
            <a:r>
              <a:rPr lang="en-US" sz="1700" dirty="0">
                <a:solidFill>
                  <a:srgbClr val="2C2821"/>
                </a:solidFill>
                <a:latin typeface="Lora" pitchFamily="34" charset="0"/>
                <a:ea typeface="Lora" pitchFamily="34" charset="-122"/>
                <a:cs typeface="Lora" pitchFamily="34" charset="-120"/>
              </a:rPr>
              <a:t>Many people seek quick and effective solutions for common health issues at home. However, finding reliable information can be time-consuming and confusing. A home remedies chatbot can provide instant access to accurate and trustworthy information, empowering users to self-care effectively.</a:t>
            </a:r>
            <a:endParaRPr lang="en-US" sz="1700" dirty="0"/>
          </a:p>
        </p:txBody>
      </p:sp>
      <p:sp>
        <p:nvSpPr>
          <p:cNvPr id="5" name="Shape 2"/>
          <p:cNvSpPr/>
          <p:nvPr/>
        </p:nvSpPr>
        <p:spPr>
          <a:xfrm>
            <a:off x="767596" y="5659517"/>
            <a:ext cx="4218861" cy="1965484"/>
          </a:xfrm>
          <a:prstGeom prst="roundRect">
            <a:avLst>
              <a:gd name="adj" fmla="val 1674"/>
            </a:avLst>
          </a:prstGeom>
          <a:solidFill>
            <a:srgbClr val="F0EDE6"/>
          </a:solidFill>
          <a:ln/>
        </p:spPr>
      </p:sp>
      <p:sp>
        <p:nvSpPr>
          <p:cNvPr id="6" name="Text 3"/>
          <p:cNvSpPr/>
          <p:nvPr/>
        </p:nvSpPr>
        <p:spPr>
          <a:xfrm>
            <a:off x="986909" y="5878830"/>
            <a:ext cx="2741414" cy="342662"/>
          </a:xfrm>
          <a:prstGeom prst="rect">
            <a:avLst/>
          </a:prstGeom>
          <a:noFill/>
          <a:ln/>
        </p:spPr>
        <p:txBody>
          <a:bodyPr wrap="none" lIns="0" tIns="0" rIns="0" bIns="0" rtlCol="0" anchor="t"/>
          <a:lstStyle/>
          <a:p>
            <a:pPr algn="l" indent="0" marL="0">
              <a:lnSpc>
                <a:spcPts val="2650"/>
              </a:lnSpc>
              <a:buNone/>
            </a:pPr>
            <a:r>
              <a:rPr lang="en-US" sz="2150" dirty="0">
                <a:solidFill>
                  <a:srgbClr val="2C2821"/>
                </a:solidFill>
                <a:latin typeface="Alice" pitchFamily="34" charset="0"/>
                <a:ea typeface="Alice" pitchFamily="34" charset="-122"/>
                <a:cs typeface="Alice" pitchFamily="34" charset="-120"/>
              </a:rPr>
              <a:t>Health Issues</a:t>
            </a:r>
            <a:endParaRPr lang="en-US" sz="2150" dirty="0"/>
          </a:p>
        </p:txBody>
      </p:sp>
      <p:sp>
        <p:nvSpPr>
          <p:cNvPr id="7" name="Text 4"/>
          <p:cNvSpPr/>
          <p:nvPr/>
        </p:nvSpPr>
        <p:spPr>
          <a:xfrm>
            <a:off x="986909" y="6353056"/>
            <a:ext cx="3780234" cy="1052632"/>
          </a:xfrm>
          <a:prstGeom prst="rect">
            <a:avLst/>
          </a:prstGeom>
          <a:noFill/>
          <a:ln/>
        </p:spPr>
        <p:txBody>
          <a:bodyPr wrap="square" lIns="0" tIns="0" rIns="0" bIns="0" rtlCol="0" anchor="t"/>
          <a:lstStyle/>
          <a:p>
            <a:pPr algn="l" indent="0" marL="0">
              <a:lnSpc>
                <a:spcPts val="2750"/>
              </a:lnSpc>
              <a:buNone/>
            </a:pPr>
            <a:r>
              <a:rPr lang="en-US" sz="1700" dirty="0">
                <a:solidFill>
                  <a:srgbClr val="2C2821"/>
                </a:solidFill>
                <a:latin typeface="Lora" pitchFamily="34" charset="0"/>
                <a:ea typeface="Lora" pitchFamily="34" charset="-122"/>
                <a:cs typeface="Lora" pitchFamily="34" charset="-120"/>
              </a:rPr>
              <a:t>Common health problems like colds and coughs are often not addressed effectively.</a:t>
            </a:r>
            <a:endParaRPr lang="en-US" sz="1700" dirty="0"/>
          </a:p>
        </p:txBody>
      </p:sp>
      <p:sp>
        <p:nvSpPr>
          <p:cNvPr id="8" name="Shape 5"/>
          <p:cNvSpPr/>
          <p:nvPr/>
        </p:nvSpPr>
        <p:spPr>
          <a:xfrm>
            <a:off x="5205770" y="5659517"/>
            <a:ext cx="4218861" cy="1965484"/>
          </a:xfrm>
          <a:prstGeom prst="roundRect">
            <a:avLst>
              <a:gd name="adj" fmla="val 1674"/>
            </a:avLst>
          </a:prstGeom>
          <a:solidFill>
            <a:srgbClr val="F0EDE6"/>
          </a:solidFill>
          <a:ln/>
        </p:spPr>
      </p:sp>
      <p:sp>
        <p:nvSpPr>
          <p:cNvPr id="9" name="Text 6"/>
          <p:cNvSpPr/>
          <p:nvPr/>
        </p:nvSpPr>
        <p:spPr>
          <a:xfrm>
            <a:off x="5425083" y="5878830"/>
            <a:ext cx="2741414" cy="342662"/>
          </a:xfrm>
          <a:prstGeom prst="rect">
            <a:avLst/>
          </a:prstGeom>
          <a:noFill/>
          <a:ln/>
        </p:spPr>
        <p:txBody>
          <a:bodyPr wrap="none" lIns="0" tIns="0" rIns="0" bIns="0" rtlCol="0" anchor="t"/>
          <a:lstStyle/>
          <a:p>
            <a:pPr algn="l" indent="0" marL="0">
              <a:lnSpc>
                <a:spcPts val="2650"/>
              </a:lnSpc>
              <a:buNone/>
            </a:pPr>
            <a:r>
              <a:rPr lang="en-US" sz="2150" dirty="0">
                <a:solidFill>
                  <a:srgbClr val="2C2821"/>
                </a:solidFill>
                <a:latin typeface="Alice" pitchFamily="34" charset="0"/>
                <a:ea typeface="Alice" pitchFamily="34" charset="-122"/>
                <a:cs typeface="Alice" pitchFamily="34" charset="-120"/>
              </a:rPr>
              <a:t>Solution Gap</a:t>
            </a:r>
            <a:endParaRPr lang="en-US" sz="2150" dirty="0"/>
          </a:p>
        </p:txBody>
      </p:sp>
      <p:sp>
        <p:nvSpPr>
          <p:cNvPr id="10" name="Text 7"/>
          <p:cNvSpPr/>
          <p:nvPr/>
        </p:nvSpPr>
        <p:spPr>
          <a:xfrm>
            <a:off x="5425083" y="6353056"/>
            <a:ext cx="3780234" cy="1052632"/>
          </a:xfrm>
          <a:prstGeom prst="rect">
            <a:avLst/>
          </a:prstGeom>
          <a:noFill/>
          <a:ln/>
        </p:spPr>
        <p:txBody>
          <a:bodyPr wrap="square" lIns="0" tIns="0" rIns="0" bIns="0" rtlCol="0" anchor="t"/>
          <a:lstStyle/>
          <a:p>
            <a:pPr algn="l" indent="0" marL="0">
              <a:lnSpc>
                <a:spcPts val="2750"/>
              </a:lnSpc>
              <a:buNone/>
            </a:pPr>
            <a:r>
              <a:rPr lang="en-US" sz="1700" dirty="0">
                <a:solidFill>
                  <a:srgbClr val="2C2821"/>
                </a:solidFill>
                <a:latin typeface="Lora" pitchFamily="34" charset="0"/>
                <a:ea typeface="Lora" pitchFamily="34" charset="-122"/>
                <a:cs typeface="Lora" pitchFamily="34" charset="-120"/>
              </a:rPr>
              <a:t>Many people rely on general advice, but traditional  trust worthy solutions are lacking.</a:t>
            </a:r>
            <a:endParaRPr lang="en-US" sz="1700" dirty="0"/>
          </a:p>
        </p:txBody>
      </p:sp>
      <p:sp>
        <p:nvSpPr>
          <p:cNvPr id="11" name="Shape 8"/>
          <p:cNvSpPr/>
          <p:nvPr/>
        </p:nvSpPr>
        <p:spPr>
          <a:xfrm>
            <a:off x="9643943" y="5659517"/>
            <a:ext cx="4218861" cy="1965484"/>
          </a:xfrm>
          <a:prstGeom prst="roundRect">
            <a:avLst>
              <a:gd name="adj" fmla="val 1674"/>
            </a:avLst>
          </a:prstGeom>
          <a:solidFill>
            <a:srgbClr val="F0EDE6"/>
          </a:solidFill>
          <a:ln/>
        </p:spPr>
      </p:sp>
      <p:sp>
        <p:nvSpPr>
          <p:cNvPr id="12" name="Text 9"/>
          <p:cNvSpPr/>
          <p:nvPr/>
        </p:nvSpPr>
        <p:spPr>
          <a:xfrm>
            <a:off x="9863257" y="5878830"/>
            <a:ext cx="2741414" cy="342662"/>
          </a:xfrm>
          <a:prstGeom prst="rect">
            <a:avLst/>
          </a:prstGeom>
          <a:noFill/>
          <a:ln/>
        </p:spPr>
        <p:txBody>
          <a:bodyPr wrap="none" lIns="0" tIns="0" rIns="0" bIns="0" rtlCol="0" anchor="t"/>
          <a:lstStyle/>
          <a:p>
            <a:pPr algn="l" indent="0" marL="0">
              <a:lnSpc>
                <a:spcPts val="2650"/>
              </a:lnSpc>
              <a:buNone/>
            </a:pPr>
            <a:r>
              <a:rPr lang="en-US" sz="2150" dirty="0">
                <a:solidFill>
                  <a:srgbClr val="2C2821"/>
                </a:solidFill>
                <a:latin typeface="Alice" pitchFamily="34" charset="0"/>
                <a:ea typeface="Alice" pitchFamily="34" charset="-122"/>
                <a:cs typeface="Alice" pitchFamily="34" charset="-120"/>
              </a:rPr>
              <a:t>Need</a:t>
            </a:r>
            <a:endParaRPr lang="en-US" sz="2150" dirty="0"/>
          </a:p>
        </p:txBody>
      </p:sp>
      <p:sp>
        <p:nvSpPr>
          <p:cNvPr id="13" name="Text 10"/>
          <p:cNvSpPr/>
          <p:nvPr/>
        </p:nvSpPr>
        <p:spPr>
          <a:xfrm>
            <a:off x="9863257" y="6353056"/>
            <a:ext cx="3780234" cy="701754"/>
          </a:xfrm>
          <a:prstGeom prst="rect">
            <a:avLst/>
          </a:prstGeom>
          <a:noFill/>
          <a:ln/>
        </p:spPr>
        <p:txBody>
          <a:bodyPr wrap="square" lIns="0" tIns="0" rIns="0" bIns="0" rtlCol="0" anchor="t"/>
          <a:lstStyle/>
          <a:p>
            <a:pPr algn="l" indent="0" marL="0">
              <a:lnSpc>
                <a:spcPts val="2750"/>
              </a:lnSpc>
              <a:buNone/>
            </a:pPr>
            <a:r>
              <a:rPr lang="en-US" sz="1700" dirty="0">
                <a:solidFill>
                  <a:srgbClr val="2C2821"/>
                </a:solidFill>
                <a:latin typeface="Lora" pitchFamily="34" charset="0"/>
                <a:ea typeface="Lora" pitchFamily="34" charset="-122"/>
                <a:cs typeface="Lora" pitchFamily="34" charset="-120"/>
              </a:rPr>
              <a:t>A system providing reliable home remedies.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9735" y="581620"/>
            <a:ext cx="7828121" cy="660440"/>
          </a:xfrm>
          <a:prstGeom prst="rect">
            <a:avLst/>
          </a:prstGeom>
          <a:noFill/>
          <a:ln/>
        </p:spPr>
        <p:txBody>
          <a:bodyPr wrap="none" lIns="0" tIns="0" rIns="0" bIns="0" rtlCol="0" anchor="t"/>
          <a:lstStyle/>
          <a:p>
            <a:pPr algn="l" indent="0" marL="0">
              <a:lnSpc>
                <a:spcPts val="5200"/>
              </a:lnSpc>
              <a:buNone/>
            </a:pPr>
            <a:r>
              <a:rPr lang="en-US" sz="4150" dirty="0">
                <a:solidFill>
                  <a:srgbClr val="233E32"/>
                </a:solidFill>
                <a:latin typeface="Alice" pitchFamily="34" charset="0"/>
                <a:ea typeface="Alice" pitchFamily="34" charset="-122"/>
                <a:cs typeface="Alice" pitchFamily="34" charset="-120"/>
              </a:rPr>
              <a:t>                              </a:t>
            </a:r>
            <a:pPr algn="l" indent="0" marL="0">
              <a:lnSpc>
                <a:spcPts val="5200"/>
              </a:lnSpc>
              <a:buNone/>
            </a:pPr>
            <a:r>
              <a:rPr lang="en-US" sz="4150" b="1" dirty="0">
                <a:solidFill>
                  <a:srgbClr val="233E32"/>
                </a:solidFill>
                <a:latin typeface="Alice" pitchFamily="34" charset="0"/>
                <a:ea typeface="Alice" pitchFamily="34" charset="-122"/>
                <a:cs typeface="Alice" pitchFamily="34" charset="-120"/>
              </a:rPr>
              <a:t> Literature Survey</a:t>
            </a:r>
            <a:endParaRPr lang="en-US" sz="4150" dirty="0"/>
          </a:p>
        </p:txBody>
      </p:sp>
      <p:sp>
        <p:nvSpPr>
          <p:cNvPr id="3" name="Text 1"/>
          <p:cNvSpPr/>
          <p:nvPr/>
        </p:nvSpPr>
        <p:spPr>
          <a:xfrm>
            <a:off x="739735" y="1559004"/>
            <a:ext cx="13150929" cy="1320879"/>
          </a:xfrm>
          <a:prstGeom prst="rect">
            <a:avLst/>
          </a:prstGeom>
          <a:noFill/>
          <a:ln/>
        </p:spPr>
        <p:txBody>
          <a:bodyPr wrap="square" lIns="0" tIns="0" rIns="0" bIns="0" rtlCol="0" anchor="t"/>
          <a:lstStyle/>
          <a:p>
            <a:pPr algn="l" indent="0" marL="0">
              <a:lnSpc>
                <a:spcPts val="5200"/>
              </a:lnSpc>
              <a:buNone/>
            </a:pPr>
            <a:r>
              <a:rPr lang="en-US" sz="4150" dirty="0">
                <a:solidFill>
                  <a:srgbClr val="233E32"/>
                </a:solidFill>
                <a:latin typeface="Alice" pitchFamily="34" charset="0"/>
                <a:ea typeface="Alice" pitchFamily="34" charset="-122"/>
                <a:cs typeface="Alice" pitchFamily="34" charset="-120"/>
              </a:rPr>
              <a:t>An NLP Chatbot on Home Remedies for Common Diseases</a:t>
            </a:r>
            <a:endParaRPr lang="en-US" sz="4150" dirty="0"/>
          </a:p>
        </p:txBody>
      </p:sp>
      <p:sp>
        <p:nvSpPr>
          <p:cNvPr id="4" name="Text 2"/>
          <p:cNvSpPr/>
          <p:nvPr/>
        </p:nvSpPr>
        <p:spPr>
          <a:xfrm>
            <a:off x="739735" y="3196828"/>
            <a:ext cx="2641997" cy="330160"/>
          </a:xfrm>
          <a:prstGeom prst="rect">
            <a:avLst/>
          </a:prstGeom>
          <a:noFill/>
          <a:ln/>
        </p:spPr>
        <p:txBody>
          <a:bodyPr wrap="none" lIns="0" tIns="0" rIns="0" bIns="0" rtlCol="0" anchor="t"/>
          <a:lstStyle/>
          <a:p>
            <a:pPr algn="l" indent="0" marL="0">
              <a:lnSpc>
                <a:spcPts val="2600"/>
              </a:lnSpc>
              <a:buNone/>
            </a:pPr>
            <a:r>
              <a:rPr lang="en-US" sz="2050" b="1" dirty="0">
                <a:solidFill>
                  <a:srgbClr val="233E32"/>
                </a:solidFill>
                <a:latin typeface="Alice" pitchFamily="34" charset="0"/>
                <a:ea typeface="Alice" pitchFamily="34" charset="-122"/>
                <a:cs typeface="Alice" pitchFamily="34" charset="-120"/>
              </a:rPr>
              <a:t>Proposed Solution</a:t>
            </a:r>
            <a:endParaRPr lang="en-US" sz="2050" dirty="0"/>
          </a:p>
        </p:txBody>
      </p:sp>
      <p:sp>
        <p:nvSpPr>
          <p:cNvPr id="5" name="Text 3"/>
          <p:cNvSpPr/>
          <p:nvPr/>
        </p:nvSpPr>
        <p:spPr>
          <a:xfrm>
            <a:off x="739735" y="3843933"/>
            <a:ext cx="13150929" cy="676275"/>
          </a:xfrm>
          <a:prstGeom prst="rect">
            <a:avLst/>
          </a:prstGeom>
          <a:noFill/>
          <a:ln/>
        </p:spPr>
        <p:txBody>
          <a:bodyPr wrap="square" lIns="0" tIns="0" rIns="0" bIns="0" rtlCol="0" anchor="t"/>
          <a:lstStyle/>
          <a:p>
            <a:pPr algn="l" indent="0" marL="0">
              <a:lnSpc>
                <a:spcPts val="2650"/>
              </a:lnSpc>
              <a:buNone/>
            </a:pPr>
            <a:r>
              <a:rPr lang="en-US" sz="1650" dirty="0">
                <a:solidFill>
                  <a:srgbClr val="2C2821"/>
                </a:solidFill>
                <a:latin typeface="Lora" pitchFamily="34" charset="0"/>
                <a:ea typeface="Lora" pitchFamily="34" charset="-122"/>
                <a:cs typeface="Lora" pitchFamily="34" charset="-120"/>
              </a:rPr>
              <a:t>Development of a chatbot using </a:t>
            </a:r>
            <a:pPr algn="l" indent="0" marL="0">
              <a:lnSpc>
                <a:spcPts val="2650"/>
              </a:lnSpc>
              <a:buNone/>
            </a:pPr>
            <a:r>
              <a:rPr lang="en-US" sz="1650" b="1" dirty="0">
                <a:solidFill>
                  <a:srgbClr val="2C2821"/>
                </a:solidFill>
                <a:latin typeface="Lora" pitchFamily="34" charset="0"/>
                <a:ea typeface="Lora" pitchFamily="34" charset="-122"/>
                <a:cs typeface="Lora" pitchFamily="34" charset="-120"/>
              </a:rPr>
              <a:t>NLP techniques</a:t>
            </a:r>
            <a:pPr algn="l" indent="0" marL="0">
              <a:lnSpc>
                <a:spcPts val="2650"/>
              </a:lnSpc>
              <a:buNone/>
            </a:pPr>
            <a:r>
              <a:rPr lang="en-US" sz="1650" dirty="0">
                <a:solidFill>
                  <a:srgbClr val="2C2821"/>
                </a:solidFill>
                <a:latin typeface="Lora" pitchFamily="34" charset="0"/>
                <a:ea typeface="Lora" pitchFamily="34" charset="-122"/>
                <a:cs typeface="Lora" pitchFamily="34" charset="-120"/>
              </a:rPr>
              <a:t> (TF-IDF and cosine similarity) to understand user queries and deliver relevant home remedies from a predefined dataset. Built with </a:t>
            </a:r>
            <a:pPr algn="l" indent="0" marL="0">
              <a:lnSpc>
                <a:spcPts val="2650"/>
              </a:lnSpc>
              <a:buNone/>
            </a:pPr>
            <a:r>
              <a:rPr lang="en-US" sz="1650" b="1" dirty="0">
                <a:solidFill>
                  <a:srgbClr val="2C2821"/>
                </a:solidFill>
                <a:latin typeface="Lora" pitchFamily="34" charset="0"/>
                <a:ea typeface="Lora" pitchFamily="34" charset="-122"/>
                <a:cs typeface="Lora" pitchFamily="34" charset="-120"/>
              </a:rPr>
              <a:t>Python and Flask</a:t>
            </a:r>
            <a:pPr algn="l" indent="0" marL="0">
              <a:lnSpc>
                <a:spcPts val="2650"/>
              </a:lnSpc>
              <a:buNone/>
            </a:pPr>
            <a:r>
              <a:rPr lang="en-US" sz="1650" dirty="0">
                <a:solidFill>
                  <a:srgbClr val="2C2821"/>
                </a:solidFill>
                <a:latin typeface="Lora" pitchFamily="34" charset="0"/>
                <a:ea typeface="Lora" pitchFamily="34" charset="-122"/>
                <a:cs typeface="Lora" pitchFamily="34" charset="-120"/>
              </a:rPr>
              <a:t> for easy access via a web interface.</a:t>
            </a:r>
            <a:endParaRPr lang="en-US" sz="1650" dirty="0"/>
          </a:p>
        </p:txBody>
      </p:sp>
      <p:sp>
        <p:nvSpPr>
          <p:cNvPr id="6" name="Text 4"/>
          <p:cNvSpPr/>
          <p:nvPr/>
        </p:nvSpPr>
        <p:spPr>
          <a:xfrm>
            <a:off x="739735" y="4757976"/>
            <a:ext cx="13150929" cy="338138"/>
          </a:xfrm>
          <a:prstGeom prst="rect">
            <a:avLst/>
          </a:prstGeom>
          <a:noFill/>
          <a:ln/>
        </p:spPr>
        <p:txBody>
          <a:bodyPr wrap="none" lIns="0" tIns="0" rIns="0" bIns="0" rtlCol="0" anchor="t"/>
          <a:lstStyle/>
          <a:p>
            <a:pPr algn="l" indent="0" marL="0">
              <a:lnSpc>
                <a:spcPts val="2650"/>
              </a:lnSpc>
              <a:buNone/>
            </a:pPr>
            <a:r>
              <a:rPr lang="en-US" sz="1650" dirty="0">
                <a:solidFill>
                  <a:srgbClr val="2C2821"/>
                </a:solidFill>
                <a:latin typeface="Lora" pitchFamily="34" charset="0"/>
                <a:ea typeface="Lora" pitchFamily="34" charset="-122"/>
                <a:cs typeface="Lora" pitchFamily="34" charset="-120"/>
              </a:rPr>
              <a:t> </a:t>
            </a:r>
            <a:pPr algn="l" indent="0" marL="0">
              <a:lnSpc>
                <a:spcPts val="2650"/>
              </a:lnSpc>
              <a:buNone/>
            </a:pPr>
            <a:r>
              <a:rPr lang="en-US" sz="1650" b="1" dirty="0">
                <a:solidFill>
                  <a:srgbClr val="2C2821"/>
                </a:solidFill>
                <a:latin typeface="Lora" pitchFamily="34" charset="0"/>
                <a:ea typeface="Lora" pitchFamily="34" charset="-122"/>
                <a:cs typeface="Lora" pitchFamily="34" charset="-120"/>
              </a:rPr>
              <a:t>Features</a:t>
            </a:r>
            <a:endParaRPr lang="en-US" sz="1650" dirty="0"/>
          </a:p>
        </p:txBody>
      </p:sp>
      <p:sp>
        <p:nvSpPr>
          <p:cNvPr id="7" name="Text 5"/>
          <p:cNvSpPr/>
          <p:nvPr/>
        </p:nvSpPr>
        <p:spPr>
          <a:xfrm>
            <a:off x="739735" y="5333881"/>
            <a:ext cx="13150929" cy="338138"/>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Fast and cost-effective health support</a:t>
            </a:r>
            <a:endParaRPr lang="en-US" sz="1650" dirty="0"/>
          </a:p>
        </p:txBody>
      </p:sp>
      <p:sp>
        <p:nvSpPr>
          <p:cNvPr id="8" name="Text 6"/>
          <p:cNvSpPr/>
          <p:nvPr/>
        </p:nvSpPr>
        <p:spPr>
          <a:xfrm>
            <a:off x="739735" y="5745956"/>
            <a:ext cx="13150929" cy="338138"/>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Easy to understand and lightweight NLP methods</a:t>
            </a:r>
            <a:endParaRPr lang="en-US" sz="1650" dirty="0"/>
          </a:p>
        </p:txBody>
      </p:sp>
      <p:sp>
        <p:nvSpPr>
          <p:cNvPr id="9" name="Text 7"/>
          <p:cNvSpPr/>
          <p:nvPr/>
        </p:nvSpPr>
        <p:spPr>
          <a:xfrm>
            <a:off x="739735" y="6158032"/>
            <a:ext cx="13150929" cy="338138"/>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High performance: </a:t>
            </a:r>
            <a:pPr algn="l" indent="0" marL="0">
              <a:lnSpc>
                <a:spcPts val="2650"/>
              </a:lnSpc>
              <a:buNone/>
            </a:pPr>
            <a:r>
              <a:rPr lang="en-US" sz="1650" b="1" dirty="0">
                <a:solidFill>
                  <a:srgbClr val="2C2821"/>
                </a:solidFill>
                <a:latin typeface="Lora" pitchFamily="34" charset="0"/>
                <a:ea typeface="Lora" pitchFamily="34" charset="-122"/>
                <a:cs typeface="Lora" pitchFamily="34" charset="-120"/>
              </a:rPr>
              <a:t>Precision – 85.71%, Recall – 100%, F1-score – 92.3%</a:t>
            </a:r>
            <a:endParaRPr lang="en-US" sz="1650" dirty="0"/>
          </a:p>
        </p:txBody>
      </p:sp>
      <p:sp>
        <p:nvSpPr>
          <p:cNvPr id="10" name="Text 8"/>
          <p:cNvSpPr/>
          <p:nvPr/>
        </p:nvSpPr>
        <p:spPr>
          <a:xfrm>
            <a:off x="739735" y="6733937"/>
            <a:ext cx="13150929" cy="338138"/>
          </a:xfrm>
          <a:prstGeom prst="rect">
            <a:avLst/>
          </a:prstGeom>
          <a:noFill/>
          <a:ln/>
        </p:spPr>
        <p:txBody>
          <a:bodyPr wrap="none" lIns="0" tIns="0" rIns="0" bIns="0" rtlCol="0" anchor="t"/>
          <a:lstStyle/>
          <a:p>
            <a:pPr algn="l" indent="0" marL="0">
              <a:lnSpc>
                <a:spcPts val="2650"/>
              </a:lnSpc>
              <a:buNone/>
            </a:pPr>
            <a:r>
              <a:rPr lang="en-US" sz="1650" b="1" dirty="0">
                <a:solidFill>
                  <a:srgbClr val="2C2821"/>
                </a:solidFill>
                <a:latin typeface="Lora" pitchFamily="34" charset="0"/>
                <a:ea typeface="Lora" pitchFamily="34" charset="-122"/>
                <a:cs typeface="Lora" pitchFamily="34" charset="-120"/>
              </a:rPr>
              <a:t>Drawbacks</a:t>
            </a:r>
            <a:endParaRPr lang="en-US" sz="1650" dirty="0"/>
          </a:p>
        </p:txBody>
      </p:sp>
      <p:sp>
        <p:nvSpPr>
          <p:cNvPr id="11" name="Text 9"/>
          <p:cNvSpPr/>
          <p:nvPr/>
        </p:nvSpPr>
        <p:spPr>
          <a:xfrm>
            <a:off x="739735" y="7309842"/>
            <a:ext cx="13150929" cy="338138"/>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No deep understanding of user context due to lack of advanced semantic models.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3773" y="692348"/>
            <a:ext cx="13302853" cy="303371"/>
          </a:xfrm>
          <a:prstGeom prst="rect">
            <a:avLst/>
          </a:prstGeom>
          <a:noFill/>
          <a:ln/>
        </p:spPr>
        <p:txBody>
          <a:bodyPr wrap="none" lIns="0" tIns="0" rIns="0" bIns="0" rtlCol="0" anchor="t"/>
          <a:lstStyle/>
          <a:p>
            <a:pPr algn="l" indent="0" marL="0">
              <a:lnSpc>
                <a:spcPts val="2350"/>
              </a:lnSpc>
              <a:buNone/>
            </a:pPr>
            <a:r>
              <a:rPr lang="en-US" sz="1450" u="sng" dirty="0">
                <a:solidFill>
                  <a:srgbClr val="1B5F39"/>
                </a:solidFill>
                <a:latin typeface="Lora" pitchFamily="34" charset="0"/>
                <a:ea typeface="Lora" pitchFamily="34" charset="-122"/>
                <a:cs typeface="Lora" pitchFamily="34" charset="-120"/>
                <a:hlinkClick r:id="rId1" invalidUrl="" action="" tgtFrame="" tooltip="" history="1" highlightClick="0" endSnd="0">
                  <a:extLst>
                    <a:ext uri="{A12FA001-AC4F-418D-AE19-62706E023703}">
                      <ahyp:hlinkClr xmlns:ahyp="http://schemas.microsoft.com/office/drawing/2018/hyperlinkcolor" val="tx"/>
                    </a:ext>
                  </a:extLst>
                </a:hlinkClick>
              </a:rPr>
              <a:t>Disease_Detection_Using_RASA_Chatbot.pdf</a:t>
            </a:r>
            <a:endParaRPr lang="en-US" sz="1450" dirty="0"/>
          </a:p>
        </p:txBody>
      </p:sp>
      <p:sp>
        <p:nvSpPr>
          <p:cNvPr id="3" name="Text 1"/>
          <p:cNvSpPr/>
          <p:nvPr/>
        </p:nvSpPr>
        <p:spPr>
          <a:xfrm>
            <a:off x="663773" y="1185386"/>
            <a:ext cx="13302853" cy="592455"/>
          </a:xfrm>
          <a:prstGeom prst="rect">
            <a:avLst/>
          </a:prstGeom>
          <a:noFill/>
          <a:ln/>
        </p:spPr>
        <p:txBody>
          <a:bodyPr wrap="square" lIns="0" tIns="0" rIns="0" bIns="0" rtlCol="0" anchor="t"/>
          <a:lstStyle/>
          <a:p>
            <a:pPr algn="l" indent="0" marL="0">
              <a:lnSpc>
                <a:spcPts val="2300"/>
              </a:lnSpc>
              <a:buNone/>
            </a:pPr>
            <a:r>
              <a:rPr lang="en-US" sz="1850" dirty="0">
                <a:solidFill>
                  <a:srgbClr val="233E32"/>
                </a:solidFill>
                <a:latin typeface="Alice" pitchFamily="34" charset="0"/>
                <a:ea typeface="Alice" pitchFamily="34" charset="-122"/>
                <a:cs typeface="Alice" pitchFamily="34" charset="-120"/>
              </a:rPr>
              <a:t>This paper discusses the development of a healthcare chatbot using the RASA framework and machine learning for disease detection.</a:t>
            </a:r>
            <a:endParaRPr lang="en-US" sz="1850" dirty="0"/>
          </a:p>
        </p:txBody>
      </p:sp>
      <p:sp>
        <p:nvSpPr>
          <p:cNvPr id="4" name="Text 2"/>
          <p:cNvSpPr/>
          <p:nvPr/>
        </p:nvSpPr>
        <p:spPr>
          <a:xfrm>
            <a:off x="663773" y="2062282"/>
            <a:ext cx="2789039" cy="296228"/>
          </a:xfrm>
          <a:prstGeom prst="rect">
            <a:avLst/>
          </a:prstGeom>
          <a:noFill/>
          <a:ln/>
        </p:spPr>
        <p:txBody>
          <a:bodyPr wrap="none" lIns="0" tIns="0" rIns="0" bIns="0" rtlCol="0" anchor="t"/>
          <a:lstStyle/>
          <a:p>
            <a:pPr algn="l" indent="0" marL="0">
              <a:lnSpc>
                <a:spcPts val="2300"/>
              </a:lnSpc>
              <a:buNone/>
            </a:pPr>
            <a:r>
              <a:rPr lang="en-US" sz="1850" b="1" dirty="0">
                <a:solidFill>
                  <a:srgbClr val="233E32"/>
                </a:solidFill>
                <a:latin typeface="Alice" pitchFamily="34" charset="0"/>
                <a:ea typeface="Alice" pitchFamily="34" charset="-122"/>
                <a:cs typeface="Alice" pitchFamily="34" charset="-120"/>
              </a:rPr>
              <a:t>Technical Implementation</a:t>
            </a:r>
            <a:endParaRPr lang="en-US" sz="1850" dirty="0"/>
          </a:p>
        </p:txBody>
      </p:sp>
      <p:sp>
        <p:nvSpPr>
          <p:cNvPr id="5" name="Text 3"/>
          <p:cNvSpPr/>
          <p:nvPr/>
        </p:nvSpPr>
        <p:spPr>
          <a:xfrm>
            <a:off x="663773" y="2642949"/>
            <a:ext cx="13302853" cy="303371"/>
          </a:xfrm>
          <a:prstGeom prst="rect">
            <a:avLst/>
          </a:prstGeom>
          <a:noFill/>
          <a:ln/>
        </p:spPr>
        <p:txBody>
          <a:bodyPr wrap="none" lIns="0" tIns="0" rIns="0" bIns="0" rtlCol="0" anchor="t"/>
          <a:lstStyle/>
          <a:p>
            <a:pPr algn="l" marL="342900" indent="-342900">
              <a:lnSpc>
                <a:spcPts val="2350"/>
              </a:lnSpc>
              <a:buSzPct val="100000"/>
              <a:buFont typeface="+mj-lt"/>
              <a:buAutoNum type="arabicPeriod" startAt="1"/>
            </a:pPr>
            <a:r>
              <a:rPr lang="en-US" sz="1450" b="1" dirty="0">
                <a:solidFill>
                  <a:srgbClr val="2C2821"/>
                </a:solidFill>
                <a:latin typeface="Lora" pitchFamily="34" charset="0"/>
                <a:ea typeface="Lora" pitchFamily="34" charset="-122"/>
                <a:cs typeface="Lora" pitchFamily="34" charset="-120"/>
              </a:rPr>
              <a:t>Framework</a:t>
            </a:r>
            <a:pPr algn="l" indent="0" marL="0">
              <a:lnSpc>
                <a:spcPts val="2350"/>
              </a:lnSpc>
              <a:buNone/>
            </a:pPr>
            <a:r>
              <a:rPr lang="en-US" sz="1450" dirty="0">
                <a:solidFill>
                  <a:srgbClr val="2C2821"/>
                </a:solidFill>
                <a:latin typeface="Lora" pitchFamily="34" charset="0"/>
                <a:ea typeface="Lora" pitchFamily="34" charset="-122"/>
                <a:cs typeface="Lora" pitchFamily="34" charset="-120"/>
              </a:rPr>
              <a:t>:  RASA is used for Natural Language Processing (NLP) and conversational AI.</a:t>
            </a:r>
            <a:endParaRPr lang="en-US" sz="1450" dirty="0"/>
          </a:p>
        </p:txBody>
      </p:sp>
      <p:sp>
        <p:nvSpPr>
          <p:cNvPr id="6" name="Text 4"/>
          <p:cNvSpPr/>
          <p:nvPr/>
        </p:nvSpPr>
        <p:spPr>
          <a:xfrm>
            <a:off x="663773" y="3012638"/>
            <a:ext cx="13302853" cy="303371"/>
          </a:xfrm>
          <a:prstGeom prst="rect">
            <a:avLst/>
          </a:prstGeom>
          <a:noFill/>
          <a:ln/>
        </p:spPr>
        <p:txBody>
          <a:bodyPr wrap="none" lIns="0" tIns="0" rIns="0" bIns="0" rtlCol="0" anchor="t"/>
          <a:lstStyle/>
          <a:p>
            <a:pPr algn="l" marL="342900" indent="-342900">
              <a:lnSpc>
                <a:spcPts val="2350"/>
              </a:lnSpc>
              <a:buSzPct val="100000"/>
              <a:buFont typeface="+mj-lt"/>
              <a:buAutoNum type="arabicPeriod" startAt="2"/>
            </a:pPr>
            <a:r>
              <a:rPr lang="en-US" sz="1450" b="1" dirty="0">
                <a:solidFill>
                  <a:srgbClr val="2C2821"/>
                </a:solidFill>
                <a:latin typeface="Lora" pitchFamily="34" charset="0"/>
                <a:ea typeface="Lora" pitchFamily="34" charset="-122"/>
                <a:cs typeface="Lora" pitchFamily="34" charset="-120"/>
              </a:rPr>
              <a:t>Machine Learning Models</a:t>
            </a:r>
            <a:pPr algn="l" indent="0" marL="0">
              <a:lnSpc>
                <a:spcPts val="2350"/>
              </a:lnSpc>
              <a:buNone/>
            </a:pPr>
            <a:r>
              <a:rPr lang="en-US" sz="1450" dirty="0">
                <a:solidFill>
                  <a:srgbClr val="2C2821"/>
                </a:solidFill>
                <a:latin typeface="Lora" pitchFamily="34" charset="0"/>
                <a:ea typeface="Lora" pitchFamily="34" charset="-122"/>
                <a:cs typeface="Lora" pitchFamily="34" charset="-120"/>
              </a:rPr>
              <a:t>: Various classification algorithms were implemented for disease prediction.</a:t>
            </a:r>
            <a:endParaRPr lang="en-US" sz="1450" dirty="0"/>
          </a:p>
        </p:txBody>
      </p:sp>
      <p:sp>
        <p:nvSpPr>
          <p:cNvPr id="7" name="Text 5"/>
          <p:cNvSpPr/>
          <p:nvPr/>
        </p:nvSpPr>
        <p:spPr>
          <a:xfrm>
            <a:off x="663773" y="3600450"/>
            <a:ext cx="2370892" cy="296228"/>
          </a:xfrm>
          <a:prstGeom prst="rect">
            <a:avLst/>
          </a:prstGeom>
          <a:noFill/>
          <a:ln/>
        </p:spPr>
        <p:txBody>
          <a:bodyPr wrap="none" lIns="0" tIns="0" rIns="0" bIns="0" rtlCol="0" anchor="t"/>
          <a:lstStyle/>
          <a:p>
            <a:pPr algn="l" indent="0" marL="0">
              <a:lnSpc>
                <a:spcPts val="2300"/>
              </a:lnSpc>
              <a:buNone/>
            </a:pPr>
            <a:r>
              <a:rPr lang="en-US" sz="1850" b="1" dirty="0">
                <a:solidFill>
                  <a:srgbClr val="233E32"/>
                </a:solidFill>
                <a:latin typeface="Alice" pitchFamily="34" charset="0"/>
                <a:ea typeface="Alice" pitchFamily="34" charset="-122"/>
                <a:cs typeface="Alice" pitchFamily="34" charset="-120"/>
              </a:rPr>
              <a:t>Features</a:t>
            </a:r>
            <a:endParaRPr lang="en-US" sz="1850" dirty="0"/>
          </a:p>
        </p:txBody>
      </p:sp>
      <p:sp>
        <p:nvSpPr>
          <p:cNvPr id="8" name="Text 6"/>
          <p:cNvSpPr/>
          <p:nvPr/>
        </p:nvSpPr>
        <p:spPr>
          <a:xfrm>
            <a:off x="663773" y="4181118"/>
            <a:ext cx="13302853" cy="303371"/>
          </a:xfrm>
          <a:prstGeom prst="rect">
            <a:avLst/>
          </a:prstGeom>
          <a:noFill/>
          <a:ln/>
        </p:spPr>
        <p:txBody>
          <a:bodyPr wrap="none" lIns="0" tIns="0" rIns="0" bIns="0" rtlCol="0" anchor="t"/>
          <a:lstStyle/>
          <a:p>
            <a:pPr algn="l" marL="342900" indent="-342900">
              <a:lnSpc>
                <a:spcPts val="2350"/>
              </a:lnSpc>
              <a:buSzPct val="100000"/>
              <a:buChar char="•"/>
            </a:pPr>
            <a:r>
              <a:rPr lang="en-US" sz="1450" b="1" dirty="0">
                <a:solidFill>
                  <a:srgbClr val="2C2821"/>
                </a:solidFill>
                <a:latin typeface="Lora" pitchFamily="34" charset="0"/>
                <a:ea typeface="Lora" pitchFamily="34" charset="-122"/>
                <a:cs typeface="Lora" pitchFamily="34" charset="-120"/>
              </a:rPr>
              <a:t>Symptom-Based Predictions</a:t>
            </a:r>
            <a:pPr algn="l" indent="0" marL="0">
              <a:lnSpc>
                <a:spcPts val="2350"/>
              </a:lnSpc>
              <a:buNone/>
            </a:pPr>
            <a:r>
              <a:rPr lang="en-US" sz="1450" dirty="0">
                <a:solidFill>
                  <a:srgbClr val="2C2821"/>
                </a:solidFill>
                <a:latin typeface="Lora" pitchFamily="34" charset="0"/>
                <a:ea typeface="Lora" pitchFamily="34" charset="-122"/>
                <a:cs typeface="Lora" pitchFamily="34" charset="-120"/>
              </a:rPr>
              <a:t>: Provides predictions for potential diseases based on user symptoms.</a:t>
            </a:r>
            <a:endParaRPr lang="en-US" sz="1450" dirty="0"/>
          </a:p>
        </p:txBody>
      </p:sp>
      <p:sp>
        <p:nvSpPr>
          <p:cNvPr id="9" name="Text 7"/>
          <p:cNvSpPr/>
          <p:nvPr/>
        </p:nvSpPr>
        <p:spPr>
          <a:xfrm>
            <a:off x="663773" y="4550807"/>
            <a:ext cx="13302853" cy="303371"/>
          </a:xfrm>
          <a:prstGeom prst="rect">
            <a:avLst/>
          </a:prstGeom>
          <a:noFill/>
          <a:ln/>
        </p:spPr>
        <p:txBody>
          <a:bodyPr wrap="none" lIns="0" tIns="0" rIns="0" bIns="0" rtlCol="0" anchor="t"/>
          <a:lstStyle/>
          <a:p>
            <a:pPr algn="l" marL="342900" indent="-342900">
              <a:lnSpc>
                <a:spcPts val="2350"/>
              </a:lnSpc>
              <a:buSzPct val="100000"/>
              <a:buChar char="•"/>
            </a:pPr>
            <a:r>
              <a:rPr lang="en-US" sz="1450" b="1" dirty="0">
                <a:solidFill>
                  <a:srgbClr val="2C2821"/>
                </a:solidFill>
                <a:latin typeface="Lora" pitchFamily="34" charset="0"/>
                <a:ea typeface="Lora" pitchFamily="34" charset="-122"/>
                <a:cs typeface="Lora" pitchFamily="34" charset="-120"/>
              </a:rPr>
              <a:t>Doctor Appointment Bookings</a:t>
            </a:r>
            <a:pPr algn="l" indent="0" marL="0">
              <a:lnSpc>
                <a:spcPts val="2350"/>
              </a:lnSpc>
              <a:buNone/>
            </a:pPr>
            <a:r>
              <a:rPr lang="en-US" sz="1450" dirty="0">
                <a:solidFill>
                  <a:srgbClr val="2C2821"/>
                </a:solidFill>
                <a:latin typeface="Lora" pitchFamily="34" charset="0"/>
                <a:ea typeface="Lora" pitchFamily="34" charset="-122"/>
                <a:cs typeface="Lora" pitchFamily="34" charset="-120"/>
              </a:rPr>
              <a:t>: Facilitates scheduling medical consultations.</a:t>
            </a:r>
            <a:endParaRPr lang="en-US" sz="1450" dirty="0"/>
          </a:p>
        </p:txBody>
      </p:sp>
      <p:sp>
        <p:nvSpPr>
          <p:cNvPr id="10" name="Text 8"/>
          <p:cNvSpPr/>
          <p:nvPr/>
        </p:nvSpPr>
        <p:spPr>
          <a:xfrm>
            <a:off x="663773" y="5138618"/>
            <a:ext cx="2370892" cy="296228"/>
          </a:xfrm>
          <a:prstGeom prst="rect">
            <a:avLst/>
          </a:prstGeom>
          <a:noFill/>
          <a:ln/>
        </p:spPr>
        <p:txBody>
          <a:bodyPr wrap="none" lIns="0" tIns="0" rIns="0" bIns="0" rtlCol="0" anchor="t"/>
          <a:lstStyle/>
          <a:p>
            <a:pPr algn="l" indent="0" marL="0">
              <a:lnSpc>
                <a:spcPts val="2300"/>
              </a:lnSpc>
              <a:buNone/>
            </a:pPr>
            <a:r>
              <a:rPr lang="en-US" sz="1850" b="1" dirty="0">
                <a:solidFill>
                  <a:srgbClr val="233E32"/>
                </a:solidFill>
                <a:latin typeface="Alice" pitchFamily="34" charset="0"/>
                <a:ea typeface="Alice" pitchFamily="34" charset="-122"/>
                <a:cs typeface="Alice" pitchFamily="34" charset="-120"/>
              </a:rPr>
              <a:t>Results</a:t>
            </a:r>
            <a:endParaRPr lang="en-US" sz="1850" dirty="0"/>
          </a:p>
        </p:txBody>
      </p:sp>
      <p:sp>
        <p:nvSpPr>
          <p:cNvPr id="11" name="Text 9"/>
          <p:cNvSpPr/>
          <p:nvPr/>
        </p:nvSpPr>
        <p:spPr>
          <a:xfrm>
            <a:off x="663773" y="5719286"/>
            <a:ext cx="13302853" cy="30337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2821"/>
                </a:solidFill>
                <a:latin typeface="Lora" pitchFamily="34" charset="0"/>
                <a:ea typeface="Lora" pitchFamily="34" charset="-122"/>
                <a:cs typeface="Lora" pitchFamily="34" charset="-120"/>
              </a:rPr>
              <a:t>The chatbot successfully demonstrated the ability to provide a convenient, accessible healthcare solution.</a:t>
            </a:r>
            <a:endParaRPr lang="en-US" sz="1450" dirty="0"/>
          </a:p>
        </p:txBody>
      </p:sp>
      <p:sp>
        <p:nvSpPr>
          <p:cNvPr id="12" name="Text 10"/>
          <p:cNvSpPr/>
          <p:nvPr/>
        </p:nvSpPr>
        <p:spPr>
          <a:xfrm>
            <a:off x="663773" y="6236018"/>
            <a:ext cx="13302853" cy="303371"/>
          </a:xfrm>
          <a:prstGeom prst="rect">
            <a:avLst/>
          </a:prstGeom>
          <a:noFill/>
          <a:ln/>
        </p:spPr>
        <p:txBody>
          <a:bodyPr wrap="none" lIns="0" tIns="0" rIns="0" bIns="0" rtlCol="0" anchor="t"/>
          <a:lstStyle/>
          <a:p>
            <a:pPr algn="l" indent="0" marL="0">
              <a:lnSpc>
                <a:spcPts val="2350"/>
              </a:lnSpc>
              <a:buNone/>
            </a:pPr>
            <a:r>
              <a:rPr lang="en-US" sz="1450" dirty="0">
                <a:solidFill>
                  <a:srgbClr val="2C2821"/>
                </a:solidFill>
                <a:latin typeface="Lora" pitchFamily="34" charset="0"/>
                <a:ea typeface="Lora" pitchFamily="34" charset="-122"/>
                <a:cs typeface="Lora" pitchFamily="34" charset="-120"/>
              </a:rPr>
              <a:t>This approach combines RASA's conversational AI capabilities with machine learning for an efficient and user-friendly healthcare assistant.</a:t>
            </a:r>
            <a:endParaRPr lang="en-US" sz="1450" dirty="0"/>
          </a:p>
        </p:txBody>
      </p:sp>
      <p:sp>
        <p:nvSpPr>
          <p:cNvPr id="13" name="Text 11"/>
          <p:cNvSpPr/>
          <p:nvPr/>
        </p:nvSpPr>
        <p:spPr>
          <a:xfrm>
            <a:off x="663773" y="6823829"/>
            <a:ext cx="2370892" cy="296228"/>
          </a:xfrm>
          <a:prstGeom prst="rect">
            <a:avLst/>
          </a:prstGeom>
          <a:noFill/>
          <a:ln/>
        </p:spPr>
        <p:txBody>
          <a:bodyPr wrap="none" lIns="0" tIns="0" rIns="0" bIns="0" rtlCol="0" anchor="t"/>
          <a:lstStyle/>
          <a:p>
            <a:pPr algn="l" indent="0" marL="0">
              <a:lnSpc>
                <a:spcPts val="2300"/>
              </a:lnSpc>
              <a:buNone/>
            </a:pPr>
            <a:r>
              <a:rPr lang="en-US" sz="1850" b="1" dirty="0">
                <a:solidFill>
                  <a:srgbClr val="233E32"/>
                </a:solidFill>
                <a:latin typeface="Alice" pitchFamily="34" charset="0"/>
                <a:ea typeface="Alice" pitchFamily="34" charset="-122"/>
                <a:cs typeface="Alice" pitchFamily="34" charset="-120"/>
              </a:rPr>
              <a:t>Drawbacks</a:t>
            </a:r>
            <a:endParaRPr lang="en-US" sz="1850" dirty="0"/>
          </a:p>
        </p:txBody>
      </p:sp>
      <p:sp>
        <p:nvSpPr>
          <p:cNvPr id="14" name="Text 12"/>
          <p:cNvSpPr/>
          <p:nvPr/>
        </p:nvSpPr>
        <p:spPr>
          <a:xfrm>
            <a:off x="663773" y="7404497"/>
            <a:ext cx="13302853" cy="303371"/>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C2821"/>
                </a:solidFill>
                <a:latin typeface="Lora" pitchFamily="34" charset="0"/>
                <a:ea typeface="Lora" pitchFamily="34" charset="-122"/>
                <a:cs typeface="Lora" pitchFamily="34" charset="-120"/>
              </a:rPr>
              <a:t>This paper just detects the health disease based on symptoms but doesn't provide home remedies for curation.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7596" y="604718"/>
            <a:ext cx="7682032" cy="685324"/>
          </a:xfrm>
          <a:prstGeom prst="rect">
            <a:avLst/>
          </a:prstGeom>
          <a:noFill/>
          <a:ln/>
        </p:spPr>
        <p:txBody>
          <a:bodyPr wrap="none" lIns="0" tIns="0" rIns="0" bIns="0" rtlCol="0" anchor="t"/>
          <a:lstStyle/>
          <a:p>
            <a:pPr algn="l" indent="0" marL="0">
              <a:lnSpc>
                <a:spcPts val="5350"/>
              </a:lnSpc>
              <a:buNone/>
            </a:pPr>
            <a:r>
              <a:rPr lang="en-US" sz="4300" dirty="0">
                <a:solidFill>
                  <a:srgbClr val="233E32"/>
                </a:solidFill>
                <a:latin typeface="Alice" pitchFamily="34" charset="0"/>
                <a:ea typeface="Alice" pitchFamily="34" charset="-122"/>
                <a:cs typeface="Alice" pitchFamily="34" charset="-120"/>
              </a:rPr>
              <a:t>Home Remedies Recommender</a:t>
            </a:r>
            <a:endParaRPr lang="en-US" sz="4300" dirty="0"/>
          </a:p>
        </p:txBody>
      </p:sp>
      <p:sp>
        <p:nvSpPr>
          <p:cNvPr id="3" name="Text 1"/>
          <p:cNvSpPr/>
          <p:nvPr/>
        </p:nvSpPr>
        <p:spPr>
          <a:xfrm>
            <a:off x="767596" y="1728668"/>
            <a:ext cx="13095208" cy="350877"/>
          </a:xfrm>
          <a:prstGeom prst="rect">
            <a:avLst/>
          </a:prstGeom>
          <a:noFill/>
          <a:ln/>
        </p:spPr>
        <p:txBody>
          <a:bodyPr wrap="none" lIns="0" tIns="0" rIns="0" bIns="0" rtlCol="0" anchor="t"/>
          <a:lstStyle/>
          <a:p>
            <a:pPr algn="l" indent="0" marL="0">
              <a:lnSpc>
                <a:spcPts val="2750"/>
              </a:lnSpc>
              <a:buNone/>
            </a:pPr>
            <a:r>
              <a:rPr lang="en-US" sz="1700" u="sng" dirty="0">
                <a:solidFill>
                  <a:srgbClr val="1B5F39"/>
                </a:solidFill>
                <a:latin typeface="Lora" pitchFamily="34" charset="0"/>
                <a:ea typeface="Lora" pitchFamily="34" charset="-122"/>
                <a:cs typeface="Lora"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recommender-system-for-home-remedy-IJERTV11IS040154.pdf</a:t>
            </a:r>
            <a:endParaRPr lang="en-US" sz="1700" dirty="0"/>
          </a:p>
        </p:txBody>
      </p:sp>
      <p:sp>
        <p:nvSpPr>
          <p:cNvPr id="4" name="Text 2"/>
          <p:cNvSpPr/>
          <p:nvPr/>
        </p:nvSpPr>
        <p:spPr>
          <a:xfrm>
            <a:off x="767596" y="2326243"/>
            <a:ext cx="13095208" cy="350877"/>
          </a:xfrm>
          <a:prstGeom prst="rect">
            <a:avLst/>
          </a:prstGeom>
          <a:noFill/>
          <a:ln/>
        </p:spPr>
        <p:txBody>
          <a:bodyPr wrap="none" lIns="0" tIns="0" rIns="0" bIns="0" rtlCol="0" anchor="t"/>
          <a:lstStyle/>
          <a:p>
            <a:pPr algn="l" indent="0" marL="0">
              <a:lnSpc>
                <a:spcPts val="2750"/>
              </a:lnSpc>
              <a:buNone/>
            </a:pPr>
            <a:r>
              <a:rPr lang="en-US" sz="1700" b="1" dirty="0">
                <a:solidFill>
                  <a:srgbClr val="2C2821"/>
                </a:solidFill>
                <a:latin typeface="Lora" pitchFamily="34" charset="0"/>
                <a:ea typeface="Lora" pitchFamily="34" charset="-122"/>
                <a:cs typeface="Lora" pitchFamily="34" charset="-120"/>
              </a:rPr>
              <a:t>Objective</a:t>
            </a:r>
            <a:pPr algn="l" indent="0" marL="0">
              <a:lnSpc>
                <a:spcPts val="2750"/>
              </a:lnSpc>
              <a:buNone/>
            </a:pPr>
            <a:r>
              <a:rPr lang="en-US" sz="1700" dirty="0">
                <a:solidFill>
                  <a:srgbClr val="2C2821"/>
                </a:solidFill>
                <a:latin typeface="Lora" pitchFamily="34" charset="0"/>
                <a:ea typeface="Lora" pitchFamily="34" charset="-122"/>
                <a:cs typeface="Lora" pitchFamily="34" charset="-120"/>
              </a:rPr>
              <a:t>: A website recommending home remedies for mild illnesses based on user symptoms.</a:t>
            </a:r>
            <a:endParaRPr lang="en-US" sz="1700" dirty="0"/>
          </a:p>
        </p:txBody>
      </p:sp>
      <p:sp>
        <p:nvSpPr>
          <p:cNvPr id="5" name="Text 3"/>
          <p:cNvSpPr/>
          <p:nvPr/>
        </p:nvSpPr>
        <p:spPr>
          <a:xfrm>
            <a:off x="767596" y="2923818"/>
            <a:ext cx="13095208" cy="350877"/>
          </a:xfrm>
          <a:prstGeom prst="rect">
            <a:avLst/>
          </a:prstGeom>
          <a:noFill/>
          <a:ln/>
        </p:spPr>
        <p:txBody>
          <a:bodyPr wrap="none" lIns="0" tIns="0" rIns="0" bIns="0" rtlCol="0" anchor="t"/>
          <a:lstStyle/>
          <a:p>
            <a:pPr algn="l" indent="0" marL="0">
              <a:lnSpc>
                <a:spcPts val="2750"/>
              </a:lnSpc>
              <a:buNone/>
            </a:pPr>
            <a:r>
              <a:rPr lang="en-US" sz="1700" b="1" dirty="0">
                <a:solidFill>
                  <a:srgbClr val="2C2821"/>
                </a:solidFill>
                <a:latin typeface="Lora" pitchFamily="34" charset="0"/>
                <a:ea typeface="Lora" pitchFamily="34" charset="-122"/>
                <a:cs typeface="Lora" pitchFamily="34" charset="-120"/>
              </a:rPr>
              <a:t>Approach</a:t>
            </a:r>
            <a:pPr algn="l" indent="0" marL="0">
              <a:lnSpc>
                <a:spcPts val="2750"/>
              </a:lnSpc>
              <a:buNone/>
            </a:pPr>
            <a:r>
              <a:rPr lang="en-US" sz="1700" dirty="0">
                <a:solidFill>
                  <a:srgbClr val="2C2821"/>
                </a:solidFill>
                <a:latin typeface="Lora" pitchFamily="34" charset="0"/>
                <a:ea typeface="Lora" pitchFamily="34" charset="-122"/>
                <a:cs typeface="Lora" pitchFamily="34" charset="-120"/>
              </a:rPr>
              <a:t>:</a:t>
            </a:r>
            <a:endParaRPr lang="en-US" sz="1700" dirty="0"/>
          </a:p>
        </p:txBody>
      </p:sp>
      <p:sp>
        <p:nvSpPr>
          <p:cNvPr id="6" name="Text 4"/>
          <p:cNvSpPr/>
          <p:nvPr/>
        </p:nvSpPr>
        <p:spPr>
          <a:xfrm>
            <a:off x="767596" y="3521393"/>
            <a:ext cx="13095208" cy="350877"/>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C2821"/>
                </a:solidFill>
                <a:latin typeface="Lora" pitchFamily="34" charset="0"/>
                <a:ea typeface="Lora" pitchFamily="34" charset="-122"/>
                <a:cs typeface="Lora" pitchFamily="34" charset="-120"/>
              </a:rPr>
              <a:t>Utilized Machine Learning algorithms to suggest fruits and herbs.</a:t>
            </a:r>
            <a:endParaRPr lang="en-US" sz="1700" dirty="0"/>
          </a:p>
        </p:txBody>
      </p:sp>
      <p:sp>
        <p:nvSpPr>
          <p:cNvPr id="7" name="Text 5"/>
          <p:cNvSpPr/>
          <p:nvPr/>
        </p:nvSpPr>
        <p:spPr>
          <a:xfrm>
            <a:off x="767596" y="3948946"/>
            <a:ext cx="13095208" cy="350877"/>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C2821"/>
                </a:solidFill>
                <a:latin typeface="Lora" pitchFamily="34" charset="0"/>
                <a:ea typeface="Lora" pitchFamily="34" charset="-122"/>
                <a:cs typeface="Lora" pitchFamily="34" charset="-120"/>
              </a:rPr>
              <a:t>Recommendations are based on symptom data, processed through machine learning models.</a:t>
            </a:r>
            <a:endParaRPr lang="en-US" sz="1700" dirty="0"/>
          </a:p>
        </p:txBody>
      </p:sp>
      <p:sp>
        <p:nvSpPr>
          <p:cNvPr id="8" name="Text 6"/>
          <p:cNvSpPr/>
          <p:nvPr/>
        </p:nvSpPr>
        <p:spPr>
          <a:xfrm>
            <a:off x="767596" y="4546521"/>
            <a:ext cx="13095208" cy="350877"/>
          </a:xfrm>
          <a:prstGeom prst="rect">
            <a:avLst/>
          </a:prstGeom>
          <a:noFill/>
          <a:ln/>
        </p:spPr>
        <p:txBody>
          <a:bodyPr wrap="none" lIns="0" tIns="0" rIns="0" bIns="0" rtlCol="0" anchor="t"/>
          <a:lstStyle/>
          <a:p>
            <a:pPr algn="l" indent="0" marL="0">
              <a:lnSpc>
                <a:spcPts val="2750"/>
              </a:lnSpc>
              <a:buNone/>
            </a:pPr>
            <a:r>
              <a:rPr lang="en-US" sz="1700" b="1" dirty="0">
                <a:solidFill>
                  <a:srgbClr val="2C2821"/>
                </a:solidFill>
                <a:latin typeface="Lora" pitchFamily="34" charset="0"/>
                <a:ea typeface="Lora" pitchFamily="34" charset="-122"/>
                <a:cs typeface="Lora" pitchFamily="34" charset="-120"/>
              </a:rPr>
              <a:t>Key Insights</a:t>
            </a:r>
            <a:pPr algn="l" indent="0" marL="0">
              <a:lnSpc>
                <a:spcPts val="2750"/>
              </a:lnSpc>
              <a:buNone/>
            </a:pPr>
            <a:r>
              <a:rPr lang="en-US" sz="1700" dirty="0">
                <a:solidFill>
                  <a:srgbClr val="2C2821"/>
                </a:solidFill>
                <a:latin typeface="Lora" pitchFamily="34" charset="0"/>
                <a:ea typeface="Lora" pitchFamily="34" charset="-122"/>
                <a:cs typeface="Lora" pitchFamily="34" charset="-120"/>
              </a:rPr>
              <a:t>:</a:t>
            </a:r>
            <a:endParaRPr lang="en-US" sz="1700" dirty="0"/>
          </a:p>
        </p:txBody>
      </p:sp>
      <p:sp>
        <p:nvSpPr>
          <p:cNvPr id="9" name="Text 7"/>
          <p:cNvSpPr/>
          <p:nvPr/>
        </p:nvSpPr>
        <p:spPr>
          <a:xfrm>
            <a:off x="767596" y="5144095"/>
            <a:ext cx="13095208" cy="350877"/>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C2821"/>
                </a:solidFill>
                <a:latin typeface="Lora" pitchFamily="34" charset="0"/>
                <a:ea typeface="Lora" pitchFamily="34" charset="-122"/>
                <a:cs typeface="Lora" pitchFamily="34" charset="-120"/>
              </a:rPr>
              <a:t>Highlights the importance of personalized recommendations for health-related queries.</a:t>
            </a:r>
            <a:endParaRPr lang="en-US" sz="1700" dirty="0"/>
          </a:p>
        </p:txBody>
      </p:sp>
      <p:sp>
        <p:nvSpPr>
          <p:cNvPr id="10" name="Text 8"/>
          <p:cNvSpPr/>
          <p:nvPr/>
        </p:nvSpPr>
        <p:spPr>
          <a:xfrm>
            <a:off x="767596" y="5571649"/>
            <a:ext cx="13095208" cy="350877"/>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C2821"/>
                </a:solidFill>
                <a:latin typeface="Lora" pitchFamily="34" charset="0"/>
                <a:ea typeface="Lora" pitchFamily="34" charset="-122"/>
                <a:cs typeface="Lora" pitchFamily="34" charset="-120"/>
              </a:rPr>
              <a:t>Naive Bayes provided the highest accuracy (79%-85%) for symptom classification​.</a:t>
            </a:r>
            <a:endParaRPr lang="en-US" sz="1700" dirty="0"/>
          </a:p>
        </p:txBody>
      </p:sp>
      <p:sp>
        <p:nvSpPr>
          <p:cNvPr id="11" name="Text 9"/>
          <p:cNvSpPr/>
          <p:nvPr/>
        </p:nvSpPr>
        <p:spPr>
          <a:xfrm>
            <a:off x="767596" y="6251496"/>
            <a:ext cx="2741414" cy="342662"/>
          </a:xfrm>
          <a:prstGeom prst="rect">
            <a:avLst/>
          </a:prstGeom>
          <a:noFill/>
          <a:ln/>
        </p:spPr>
        <p:txBody>
          <a:bodyPr wrap="none" lIns="0" tIns="0" rIns="0" bIns="0" rtlCol="0" anchor="t"/>
          <a:lstStyle/>
          <a:p>
            <a:pPr algn="l" indent="0" marL="0">
              <a:lnSpc>
                <a:spcPts val="2650"/>
              </a:lnSpc>
              <a:buNone/>
            </a:pPr>
            <a:r>
              <a:rPr lang="en-US" sz="2150" b="1" dirty="0">
                <a:solidFill>
                  <a:srgbClr val="233E32"/>
                </a:solidFill>
                <a:latin typeface="Alice" pitchFamily="34" charset="0"/>
                <a:ea typeface="Alice" pitchFamily="34" charset="-122"/>
                <a:cs typeface="Alice" pitchFamily="34" charset="-120"/>
              </a:rPr>
              <a:t>Drawback</a:t>
            </a:r>
            <a:endParaRPr lang="en-US" sz="2150" dirty="0"/>
          </a:p>
        </p:txBody>
      </p:sp>
      <p:sp>
        <p:nvSpPr>
          <p:cNvPr id="12" name="Text 10"/>
          <p:cNvSpPr/>
          <p:nvPr/>
        </p:nvSpPr>
        <p:spPr>
          <a:xfrm>
            <a:off x="767596" y="6923127"/>
            <a:ext cx="13095208" cy="701754"/>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2C2821"/>
                </a:solidFill>
                <a:latin typeface="Lora" pitchFamily="34" charset="0"/>
                <a:ea typeface="Lora" pitchFamily="34" charset="-122"/>
                <a:cs typeface="Lora" pitchFamily="34" charset="-120"/>
              </a:rPr>
              <a:t>In this paper they just recommend a fruit based on user health conditions but they doesn't provide traditional home remedies for curing it</a:t>
            </a:r>
            <a:pPr algn="l" indent="0" marL="0">
              <a:lnSpc>
                <a:spcPts val="2750"/>
              </a:lnSpc>
              <a:buNone/>
            </a:pPr>
            <a:r>
              <a:rPr lang="en-US" sz="1700" b="1" dirty="0">
                <a:solidFill>
                  <a:srgbClr val="2C2821"/>
                </a:solidFill>
                <a:latin typeface="Lora" pitchFamily="34" charset="0"/>
                <a:ea typeface="Lora" pitchFamily="34" charset="-122"/>
                <a:cs typeface="Lora" pitchFamily="34" charset="-120"/>
              </a:rPr>
              <a:t>. </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11597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Other Resources</a:t>
            </a:r>
            <a:endParaRPr lang="en-US" sz="4450" dirty="0"/>
          </a:p>
        </p:txBody>
      </p:sp>
      <p:sp>
        <p:nvSpPr>
          <p:cNvPr id="3" name="Text 1"/>
          <p:cNvSpPr/>
          <p:nvPr/>
        </p:nvSpPr>
        <p:spPr>
          <a:xfrm>
            <a:off x="793790" y="3278386"/>
            <a:ext cx="13042821" cy="362903"/>
          </a:xfrm>
          <a:prstGeom prst="rect">
            <a:avLst/>
          </a:prstGeom>
          <a:noFill/>
          <a:ln/>
        </p:spPr>
        <p:txBody>
          <a:bodyPr wrap="none" lIns="0" tIns="0" rIns="0" bIns="0" rtlCol="0" anchor="t"/>
          <a:lstStyle/>
          <a:p>
            <a:pPr algn="l" indent="0" marL="0">
              <a:lnSpc>
                <a:spcPts val="2850"/>
              </a:lnSpc>
              <a:buNone/>
            </a:pPr>
            <a:r>
              <a:rPr lang="en-US" sz="1750" u="sng" dirty="0">
                <a:solidFill>
                  <a:srgbClr val="1B5F39"/>
                </a:solidFill>
                <a:latin typeface="Lora" pitchFamily="34" charset="0"/>
                <a:ea typeface="Lora" pitchFamily="34" charset="-122"/>
                <a:cs typeface="Lora"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Introduction to Rasa Pro</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  Rasa Documentation</a:t>
            </a:r>
            <a:endParaRPr lang="en-US" sz="1750" dirty="0"/>
          </a:p>
        </p:txBody>
      </p:sp>
      <p:sp>
        <p:nvSpPr>
          <p:cNvPr id="4" name="Text 2"/>
          <p:cNvSpPr/>
          <p:nvPr/>
        </p:nvSpPr>
        <p:spPr>
          <a:xfrm>
            <a:off x="793790" y="3896439"/>
            <a:ext cx="13042821" cy="362903"/>
          </a:xfrm>
          <a:prstGeom prst="rect">
            <a:avLst/>
          </a:prstGeom>
          <a:noFill/>
          <a:ln/>
        </p:spPr>
        <p:txBody>
          <a:bodyPr wrap="none" lIns="0" tIns="0" rIns="0" bIns="0" rtlCol="0" anchor="t"/>
          <a:lstStyle/>
          <a:p>
            <a:pPr algn="l" indent="0" marL="0">
              <a:lnSpc>
                <a:spcPts val="2850"/>
              </a:lnSpc>
              <a:buNone/>
            </a:pPr>
            <a:r>
              <a:rPr lang="en-US" sz="1750" u="sng" dirty="0">
                <a:solidFill>
                  <a:srgbClr val="1B5F39"/>
                </a:solidFill>
                <a:latin typeface="Lora" pitchFamily="34" charset="0"/>
                <a:ea typeface="Lora" pitchFamily="34" charset="-122"/>
                <a:cs typeface="Lora"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Building and Deploying a Chatbot from Scratch using Rasa Framework: A Complete  Guide for Beginners</a:t>
            </a:r>
            <a:endParaRPr lang="en-US" sz="1750" dirty="0"/>
          </a:p>
        </p:txBody>
      </p:sp>
      <p:sp>
        <p:nvSpPr>
          <p:cNvPr id="5" name="Text 3"/>
          <p:cNvSpPr/>
          <p:nvPr/>
        </p:nvSpPr>
        <p:spPr>
          <a:xfrm>
            <a:off x="793790" y="4514493"/>
            <a:ext cx="13042821" cy="362903"/>
          </a:xfrm>
          <a:prstGeom prst="rect">
            <a:avLst/>
          </a:prstGeom>
          <a:noFill/>
          <a:ln/>
        </p:spPr>
        <p:txBody>
          <a:bodyPr wrap="none" lIns="0" tIns="0" rIns="0" bIns="0" rtlCol="0" anchor="t"/>
          <a:lstStyle/>
          <a:p>
            <a:pPr algn="l" indent="0" marL="0">
              <a:lnSpc>
                <a:spcPts val="2850"/>
              </a:lnSpc>
              <a:buNone/>
            </a:pPr>
            <a:r>
              <a:rPr lang="en-US" sz="1750" u="sng" dirty="0">
                <a:solidFill>
                  <a:srgbClr val="1B5F39"/>
                </a:solidFill>
                <a:latin typeface="Lora" pitchFamily="34" charset="0"/>
                <a:ea typeface="Lora" pitchFamily="34" charset="-122"/>
                <a:cs typeface="Lora" pitchFamily="34" charset="-120"/>
                <a:hlinkClick r:id="rId3" invalidUrl="" action="" tgtFrame="" tooltip="" history="1" highlightClick="0" endSnd="0">
                  <a:extLst>
                    <a:ext uri="{A12FA001-AC4F-418D-AE19-62706E023703}">
                      <ahyp:hlinkClr xmlns:ahyp="http://schemas.microsoft.com/office/drawing/2018/hyperlinkcolor" val="tx"/>
                    </a:ext>
                  </a:extLst>
                </a:hlinkClick>
              </a:rPr>
              <a:t>A step-by-step Guide for Developing a Chatbot for Healthcare Apps • QuickBlox</a:t>
            </a:r>
            <a:endParaRPr lang="en-US" sz="1750" dirty="0"/>
          </a:p>
        </p:txBody>
      </p:sp>
      <p:sp>
        <p:nvSpPr>
          <p:cNvPr id="6" name="Text 4"/>
          <p:cNvSpPr/>
          <p:nvPr/>
        </p:nvSpPr>
        <p:spPr>
          <a:xfrm>
            <a:off x="793790" y="5132546"/>
            <a:ext cx="13042821" cy="362903"/>
          </a:xfrm>
          <a:prstGeom prst="rect">
            <a:avLst/>
          </a:prstGeom>
          <a:noFill/>
          <a:ln/>
        </p:spPr>
        <p:txBody>
          <a:bodyPr wrap="none" lIns="0" tIns="0" rIns="0" bIns="0" rtlCol="0" anchor="t"/>
          <a:lstStyle/>
          <a:p>
            <a:pPr algn="l" indent="0" marL="0">
              <a:lnSpc>
                <a:spcPts val="2850"/>
              </a:lnSpc>
              <a:buNone/>
            </a:pPr>
            <a:r>
              <a:rPr lang="en-US" sz="1750" u="sng" dirty="0">
                <a:solidFill>
                  <a:srgbClr val="1B5F39"/>
                </a:solidFill>
                <a:latin typeface="Lora" pitchFamily="34" charset="0"/>
                <a:ea typeface="Lora" pitchFamily="34" charset="-122"/>
                <a:cs typeface="Lora" pitchFamily="34" charset="-120"/>
                <a:hlinkClick r:id="rId4" invalidUrl="" action="" tgtFrame="" tooltip="" history="1" highlightClick="0" endSnd="0">
                  <a:extLst>
                    <a:ext uri="{A12FA001-AC4F-418D-AE19-62706E023703}">
                      <ahyp:hlinkClr xmlns:ahyp="http://schemas.microsoft.com/office/drawing/2018/hyperlinkcolor" val="tx"/>
                    </a:ext>
                  </a:extLst>
                </a:hlinkClick>
              </a:rPr>
              <a:t>A Developer Guide for Creating a Multi-Modal Chatbot Using LangChain Agents</a:t>
            </a:r>
            <a:endParaRPr lang="en-US" sz="1750" dirty="0"/>
          </a:p>
        </p:txBody>
      </p:sp>
      <p:sp>
        <p:nvSpPr>
          <p:cNvPr id="7" name="Text 5"/>
          <p:cNvSpPr/>
          <p:nvPr/>
        </p:nvSpPr>
        <p:spPr>
          <a:xfrm>
            <a:off x="793790" y="5750600"/>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8543" y="715328"/>
            <a:ext cx="6712029" cy="650438"/>
          </a:xfrm>
          <a:prstGeom prst="rect">
            <a:avLst/>
          </a:prstGeom>
          <a:noFill/>
          <a:ln/>
        </p:spPr>
        <p:txBody>
          <a:bodyPr wrap="none" lIns="0" tIns="0" rIns="0" bIns="0" rtlCol="0" anchor="t"/>
          <a:lstStyle/>
          <a:p>
            <a:pPr algn="l" indent="0" marL="0">
              <a:lnSpc>
                <a:spcPts val="5100"/>
              </a:lnSpc>
              <a:buNone/>
            </a:pPr>
            <a:r>
              <a:rPr lang="en-US" sz="4050" b="1" dirty="0">
                <a:solidFill>
                  <a:srgbClr val="233E32"/>
                </a:solidFill>
                <a:latin typeface="Alice" pitchFamily="34" charset="0"/>
                <a:ea typeface="Alice" pitchFamily="34" charset="-122"/>
                <a:cs typeface="Alice" pitchFamily="34" charset="-120"/>
              </a:rPr>
              <a:t>                     Proposed Solution</a:t>
            </a:r>
            <a:endParaRPr lang="en-US" sz="4050" dirty="0"/>
          </a:p>
        </p:txBody>
      </p:sp>
      <p:sp>
        <p:nvSpPr>
          <p:cNvPr id="3" name="Text 1"/>
          <p:cNvSpPr/>
          <p:nvPr/>
        </p:nvSpPr>
        <p:spPr>
          <a:xfrm>
            <a:off x="728543" y="1782008"/>
            <a:ext cx="13173313" cy="665798"/>
          </a:xfrm>
          <a:prstGeom prst="rect">
            <a:avLst/>
          </a:prstGeom>
          <a:noFill/>
          <a:ln/>
        </p:spPr>
        <p:txBody>
          <a:bodyPr wrap="square" lIns="0" tIns="0" rIns="0" bIns="0" rtlCol="0" anchor="t"/>
          <a:lstStyle/>
          <a:p>
            <a:pPr algn="l" indent="0" marL="0">
              <a:lnSpc>
                <a:spcPts val="2600"/>
              </a:lnSpc>
              <a:buNone/>
            </a:pPr>
            <a:r>
              <a:rPr lang="en-US" sz="1600" dirty="0">
                <a:solidFill>
                  <a:srgbClr val="2C2821"/>
                </a:solidFill>
                <a:latin typeface="Lora" pitchFamily="34" charset="0"/>
                <a:ea typeface="Lora" pitchFamily="34" charset="-122"/>
                <a:cs typeface="Lora" pitchFamily="34" charset="-120"/>
              </a:rPr>
              <a:t>This project introduces a Home Remedies Chatbot aimed at promoting natural health solutions by providing </a:t>
            </a:r>
            <a:pPr algn="l" indent="0" marL="0">
              <a:lnSpc>
                <a:spcPts val="2600"/>
              </a:lnSpc>
              <a:buNone/>
            </a:pPr>
            <a:r>
              <a:rPr lang="en-US" sz="1600" b="1" dirty="0">
                <a:solidFill>
                  <a:srgbClr val="2C2821"/>
                </a:solidFill>
                <a:latin typeface="Lora" pitchFamily="34" charset="0"/>
                <a:ea typeface="Lora" pitchFamily="34" charset="-122"/>
                <a:cs typeface="Lora" pitchFamily="34" charset="-120"/>
              </a:rPr>
              <a:t>generalized home remedies for common health issues</a:t>
            </a:r>
            <a:pPr algn="l" indent="0" marL="0">
              <a:lnSpc>
                <a:spcPts val="2600"/>
              </a:lnSpc>
              <a:buNone/>
            </a:pPr>
            <a:r>
              <a:rPr lang="en-US" sz="1600" dirty="0">
                <a:solidFill>
                  <a:srgbClr val="2C2821"/>
                </a:solidFill>
                <a:latin typeface="Lora" pitchFamily="34" charset="0"/>
                <a:ea typeface="Lora" pitchFamily="34" charset="-122"/>
                <a:cs typeface="Lora" pitchFamily="34" charset="-120"/>
              </a:rPr>
              <a:t>.</a:t>
            </a:r>
            <a:endParaRPr lang="en-US" sz="1600" dirty="0"/>
          </a:p>
        </p:txBody>
      </p:sp>
      <p:sp>
        <p:nvSpPr>
          <p:cNvPr id="4" name="Text 2"/>
          <p:cNvSpPr/>
          <p:nvPr/>
        </p:nvSpPr>
        <p:spPr>
          <a:xfrm>
            <a:off x="728543" y="2681883"/>
            <a:ext cx="13173313" cy="665798"/>
          </a:xfrm>
          <a:prstGeom prst="rect">
            <a:avLst/>
          </a:prstGeom>
          <a:noFill/>
          <a:ln/>
        </p:spPr>
        <p:txBody>
          <a:bodyPr wrap="square" lIns="0" tIns="0" rIns="0" bIns="0" rtlCol="0" anchor="t"/>
          <a:lstStyle/>
          <a:p>
            <a:pPr algn="l" indent="0" marL="0">
              <a:lnSpc>
                <a:spcPts val="2600"/>
              </a:lnSpc>
              <a:buNone/>
            </a:pPr>
            <a:r>
              <a:rPr lang="en-US" sz="1600" dirty="0">
                <a:solidFill>
                  <a:srgbClr val="2C2821"/>
                </a:solidFill>
                <a:latin typeface="Lora" pitchFamily="34" charset="0"/>
                <a:ea typeface="Lora" pitchFamily="34" charset="-122"/>
                <a:cs typeface="Lora" pitchFamily="34" charset="-120"/>
              </a:rPr>
              <a:t>The chatbot is developed using Rasa that takes user queries  and respond with relevant home remedies. It employs </a:t>
            </a:r>
            <a:pPr algn="l" indent="0" marL="0">
              <a:lnSpc>
                <a:spcPts val="2600"/>
              </a:lnSpc>
              <a:buNone/>
            </a:pPr>
            <a:r>
              <a:rPr lang="en-US" sz="1600" b="1" dirty="0">
                <a:solidFill>
                  <a:srgbClr val="2C2821"/>
                </a:solidFill>
                <a:latin typeface="Lora" pitchFamily="34" charset="0"/>
                <a:ea typeface="Lora" pitchFamily="34" charset="-122"/>
                <a:cs typeface="Lora" pitchFamily="34" charset="-120"/>
              </a:rPr>
              <a:t>embedding-based similarity techniques </a:t>
            </a:r>
            <a:pPr algn="l" indent="0" marL="0">
              <a:lnSpc>
                <a:spcPts val="2600"/>
              </a:lnSpc>
              <a:buNone/>
            </a:pPr>
            <a:r>
              <a:rPr lang="en-US" sz="1600" dirty="0">
                <a:solidFill>
                  <a:srgbClr val="2C2821"/>
                </a:solidFill>
                <a:latin typeface="Lora" pitchFamily="34" charset="0"/>
                <a:ea typeface="Lora" pitchFamily="34" charset="-122"/>
                <a:cs typeface="Lora" pitchFamily="34" charset="-120"/>
              </a:rPr>
              <a:t>to accurately match user-described symptoms with appropriate remedies from a curated dataset.</a:t>
            </a:r>
            <a:endParaRPr lang="en-US" sz="1600" dirty="0"/>
          </a:p>
        </p:txBody>
      </p:sp>
      <p:sp>
        <p:nvSpPr>
          <p:cNvPr id="5" name="Text 3"/>
          <p:cNvSpPr/>
          <p:nvPr/>
        </p:nvSpPr>
        <p:spPr>
          <a:xfrm>
            <a:off x="728543" y="3581757"/>
            <a:ext cx="13173313" cy="332899"/>
          </a:xfrm>
          <a:prstGeom prst="rect">
            <a:avLst/>
          </a:prstGeom>
          <a:noFill/>
          <a:ln/>
        </p:spPr>
        <p:txBody>
          <a:bodyPr wrap="none" lIns="0" tIns="0" rIns="0" bIns="0" rtlCol="0" anchor="t"/>
          <a:lstStyle/>
          <a:p>
            <a:pPr algn="l" indent="0" marL="0">
              <a:lnSpc>
                <a:spcPts val="2600"/>
              </a:lnSpc>
              <a:buNone/>
            </a:pPr>
            <a:r>
              <a:rPr lang="en-US" sz="1600" dirty="0">
                <a:solidFill>
                  <a:srgbClr val="2C2821"/>
                </a:solidFill>
                <a:latin typeface="Lora" pitchFamily="34" charset="0"/>
                <a:ea typeface="Lora" pitchFamily="34" charset="-122"/>
                <a:cs typeface="Lora" pitchFamily="34" charset="-120"/>
              </a:rPr>
              <a:t>To improve user engagement and accessibility, the chatbot supports </a:t>
            </a:r>
            <a:pPr algn="l" indent="0" marL="0">
              <a:lnSpc>
                <a:spcPts val="2600"/>
              </a:lnSpc>
              <a:buNone/>
            </a:pPr>
            <a:r>
              <a:rPr lang="en-US" sz="1600" b="1" dirty="0">
                <a:solidFill>
                  <a:srgbClr val="2C2821"/>
                </a:solidFill>
                <a:latin typeface="Lora" pitchFamily="34" charset="0"/>
                <a:ea typeface="Lora" pitchFamily="34" charset="-122"/>
                <a:cs typeface="Lora" pitchFamily="34" charset="-120"/>
              </a:rPr>
              <a:t>voice feature</a:t>
            </a:r>
            <a:pPr algn="l" indent="0" marL="0">
              <a:lnSpc>
                <a:spcPts val="2600"/>
              </a:lnSpc>
              <a:buNone/>
            </a:pPr>
            <a:r>
              <a:rPr lang="en-US" sz="1600" dirty="0">
                <a:solidFill>
                  <a:srgbClr val="2C2821"/>
                </a:solidFill>
                <a:latin typeface="Lora" pitchFamily="34" charset="0"/>
                <a:ea typeface="Lora" pitchFamily="34" charset="-122"/>
                <a:cs typeface="Lora" pitchFamily="34" charset="-120"/>
              </a:rPr>
              <a:t>. </a:t>
            </a:r>
            <a:endParaRPr lang="en-US" sz="1600" dirty="0"/>
          </a:p>
        </p:txBody>
      </p:sp>
      <p:sp>
        <p:nvSpPr>
          <p:cNvPr id="6" name="Text 4"/>
          <p:cNvSpPr/>
          <p:nvPr/>
        </p:nvSpPr>
        <p:spPr>
          <a:xfrm>
            <a:off x="728543" y="4148733"/>
            <a:ext cx="13173313" cy="665798"/>
          </a:xfrm>
          <a:prstGeom prst="rect">
            <a:avLst/>
          </a:prstGeom>
          <a:noFill/>
          <a:ln/>
        </p:spPr>
        <p:txBody>
          <a:bodyPr wrap="square" lIns="0" tIns="0" rIns="0" bIns="0" rtlCol="0" anchor="t"/>
          <a:lstStyle/>
          <a:p>
            <a:pPr algn="l" indent="0" marL="0">
              <a:lnSpc>
                <a:spcPts val="2600"/>
              </a:lnSpc>
              <a:buNone/>
            </a:pPr>
            <a:r>
              <a:rPr lang="en-US" sz="1600" dirty="0">
                <a:solidFill>
                  <a:srgbClr val="2C2821"/>
                </a:solidFill>
                <a:latin typeface="Lora" pitchFamily="34" charset="0"/>
                <a:ea typeface="Lora" pitchFamily="34" charset="-122"/>
                <a:cs typeface="Lora" pitchFamily="34" charset="-120"/>
              </a:rPr>
              <a:t>For each health issue addressed, the bot not only suggests remedies but also </a:t>
            </a:r>
            <a:pPr algn="l" indent="0" marL="0">
              <a:lnSpc>
                <a:spcPts val="2600"/>
              </a:lnSpc>
              <a:buNone/>
            </a:pPr>
            <a:r>
              <a:rPr lang="en-US" sz="1600" b="1" dirty="0">
                <a:solidFill>
                  <a:srgbClr val="2C2821"/>
                </a:solidFill>
                <a:latin typeface="Lora" pitchFamily="34" charset="0"/>
                <a:ea typeface="Lora" pitchFamily="34" charset="-122"/>
                <a:cs typeface="Lora" pitchFamily="34" charset="-120"/>
              </a:rPr>
              <a:t>provides external reference links</a:t>
            </a:r>
            <a:pPr algn="l" indent="0" marL="0">
              <a:lnSpc>
                <a:spcPts val="2600"/>
              </a:lnSpc>
              <a:buNone/>
            </a:pPr>
            <a:r>
              <a:rPr lang="en-US" sz="1600" dirty="0">
                <a:solidFill>
                  <a:srgbClr val="2C2821"/>
                </a:solidFill>
                <a:latin typeface="Lora" pitchFamily="34" charset="0"/>
                <a:ea typeface="Lora" pitchFamily="34" charset="-122"/>
                <a:cs typeface="Lora" pitchFamily="34" charset="-120"/>
              </a:rPr>
              <a:t> for key ingredients, ensuring users can easily access or learn more about them. </a:t>
            </a:r>
            <a:endParaRPr lang="en-US" sz="1600" dirty="0"/>
          </a:p>
        </p:txBody>
      </p:sp>
      <p:sp>
        <p:nvSpPr>
          <p:cNvPr id="7" name="Text 5"/>
          <p:cNvSpPr/>
          <p:nvPr/>
        </p:nvSpPr>
        <p:spPr>
          <a:xfrm>
            <a:off x="728543" y="5048607"/>
            <a:ext cx="13173313" cy="998696"/>
          </a:xfrm>
          <a:prstGeom prst="rect">
            <a:avLst/>
          </a:prstGeom>
          <a:noFill/>
          <a:ln/>
        </p:spPr>
        <p:txBody>
          <a:bodyPr wrap="square" lIns="0" tIns="0" rIns="0" bIns="0" rtlCol="0" anchor="t"/>
          <a:lstStyle/>
          <a:p>
            <a:pPr algn="l" indent="0" marL="0">
              <a:lnSpc>
                <a:spcPts val="2600"/>
              </a:lnSpc>
              <a:buNone/>
            </a:pPr>
            <a:r>
              <a:rPr lang="en-US" sz="1600" dirty="0">
                <a:solidFill>
                  <a:srgbClr val="2C2821"/>
                </a:solidFill>
                <a:latin typeface="Lora" pitchFamily="34" charset="0"/>
                <a:ea typeface="Lora" pitchFamily="34" charset="-122"/>
                <a:cs typeface="Lora" pitchFamily="34" charset="-120"/>
              </a:rPr>
              <a:t>A distinctive feature of the system is the </a:t>
            </a:r>
            <a:pPr algn="l" indent="0" marL="0">
              <a:lnSpc>
                <a:spcPts val="2600"/>
              </a:lnSpc>
              <a:buNone/>
            </a:pPr>
            <a:r>
              <a:rPr lang="en-US" sz="1600" b="1" dirty="0">
                <a:solidFill>
                  <a:srgbClr val="2C2821"/>
                </a:solidFill>
                <a:latin typeface="Lora" pitchFamily="34" charset="0"/>
                <a:ea typeface="Lora" pitchFamily="34" charset="-122"/>
                <a:cs typeface="Lora" pitchFamily="34" charset="-120"/>
              </a:rPr>
              <a:t>feedback and suggestion module,</a:t>
            </a:r>
            <a:pPr algn="l" indent="0" marL="0">
              <a:lnSpc>
                <a:spcPts val="2600"/>
              </a:lnSpc>
              <a:buNone/>
            </a:pPr>
            <a:r>
              <a:rPr lang="en-US" sz="1600" dirty="0">
                <a:solidFill>
                  <a:srgbClr val="2C2821"/>
                </a:solidFill>
                <a:latin typeface="Lora" pitchFamily="34" charset="0"/>
                <a:ea typeface="Lora" pitchFamily="34" charset="-122"/>
                <a:cs typeface="Lora" pitchFamily="34" charset="-120"/>
              </a:rPr>
              <a:t> which invites users to share their own knowledge of remedies. These inputs are stored in a secure </a:t>
            </a:r>
            <a:pPr algn="l" indent="0" marL="0">
              <a:lnSpc>
                <a:spcPts val="2600"/>
              </a:lnSpc>
              <a:buNone/>
            </a:pPr>
            <a:r>
              <a:rPr lang="en-US" sz="1600" b="1" dirty="0">
                <a:solidFill>
                  <a:srgbClr val="2C2821"/>
                </a:solidFill>
                <a:latin typeface="Lora" pitchFamily="34" charset="0"/>
                <a:ea typeface="Lora" pitchFamily="34" charset="-122"/>
                <a:cs typeface="Lora" pitchFamily="34" charset="-120"/>
              </a:rPr>
              <a:t>admin dashboard</a:t>
            </a:r>
            <a:pPr algn="l" indent="0" marL="0">
              <a:lnSpc>
                <a:spcPts val="2600"/>
              </a:lnSpc>
              <a:buNone/>
            </a:pPr>
            <a:r>
              <a:rPr lang="en-US" sz="1600" dirty="0">
                <a:solidFill>
                  <a:srgbClr val="2C2821"/>
                </a:solidFill>
                <a:latin typeface="Lora" pitchFamily="34" charset="0"/>
                <a:ea typeface="Lora" pitchFamily="34" charset="-122"/>
                <a:cs typeface="Lora" pitchFamily="34" charset="-120"/>
              </a:rPr>
              <a:t>, enabling the administrator to review, validate, and incorporate valuable user contributions into the training data—making the chatbot continuously improvable.</a:t>
            </a:r>
            <a:endParaRPr lang="en-US" sz="1600" dirty="0"/>
          </a:p>
        </p:txBody>
      </p:sp>
      <p:sp>
        <p:nvSpPr>
          <p:cNvPr id="8" name="Text 6"/>
          <p:cNvSpPr/>
          <p:nvPr/>
        </p:nvSpPr>
        <p:spPr>
          <a:xfrm>
            <a:off x="728543" y="6281380"/>
            <a:ext cx="13173313" cy="665798"/>
          </a:xfrm>
          <a:prstGeom prst="rect">
            <a:avLst/>
          </a:prstGeom>
          <a:noFill/>
          <a:ln/>
        </p:spPr>
        <p:txBody>
          <a:bodyPr wrap="square" lIns="0" tIns="0" rIns="0" bIns="0" rtlCol="0" anchor="t"/>
          <a:lstStyle/>
          <a:p>
            <a:pPr algn="l" indent="0" marL="0">
              <a:lnSpc>
                <a:spcPts val="2600"/>
              </a:lnSpc>
              <a:buNone/>
            </a:pPr>
            <a:r>
              <a:rPr lang="en-US" sz="1600" dirty="0">
                <a:solidFill>
                  <a:srgbClr val="2C2821"/>
                </a:solidFill>
                <a:latin typeface="Lora" pitchFamily="34" charset="0"/>
                <a:ea typeface="Lora" pitchFamily="34" charset="-122"/>
                <a:cs typeface="Lora" pitchFamily="34" charset="-120"/>
              </a:rPr>
              <a:t>The bot further offers </a:t>
            </a:r>
            <a:pPr algn="l" indent="0" marL="0">
              <a:lnSpc>
                <a:spcPts val="2600"/>
              </a:lnSpc>
              <a:buNone/>
            </a:pPr>
            <a:r>
              <a:rPr lang="en-US" sz="1600" b="1" dirty="0">
                <a:solidFill>
                  <a:srgbClr val="2C2821"/>
                </a:solidFill>
                <a:latin typeface="Lora" pitchFamily="34" charset="0"/>
                <a:ea typeface="Lora" pitchFamily="34" charset="-122"/>
                <a:cs typeface="Lora" pitchFamily="34" charset="-120"/>
              </a:rPr>
              <a:t>ingredient-specific information and suggests generalized daily health schedules</a:t>
            </a:r>
            <a:pPr algn="l" indent="0" marL="0">
              <a:lnSpc>
                <a:spcPts val="2600"/>
              </a:lnSpc>
              <a:buNone/>
            </a:pPr>
            <a:r>
              <a:rPr lang="en-US" sz="1600" dirty="0">
                <a:solidFill>
                  <a:srgbClr val="2C2821"/>
                </a:solidFill>
                <a:latin typeface="Lora" pitchFamily="34" charset="0"/>
                <a:ea typeface="Lora" pitchFamily="34" charset="-122"/>
                <a:cs typeface="Lora" pitchFamily="34" charset="-120"/>
              </a:rPr>
              <a:t> that users can follow to manage or prevent the given health issue. </a:t>
            </a:r>
            <a:endParaRPr lang="en-US" sz="1600" dirty="0"/>
          </a:p>
        </p:txBody>
      </p:sp>
      <p:sp>
        <p:nvSpPr>
          <p:cNvPr id="9" name="Text 7"/>
          <p:cNvSpPr/>
          <p:nvPr/>
        </p:nvSpPr>
        <p:spPr>
          <a:xfrm>
            <a:off x="728543" y="7181255"/>
            <a:ext cx="13173313" cy="332899"/>
          </a:xfrm>
          <a:prstGeom prst="rect">
            <a:avLst/>
          </a:prstGeom>
          <a:noFill/>
          <a:ln/>
        </p:spPr>
        <p:txBody>
          <a:bodyPr wrap="none" lIns="0" tIns="0" rIns="0" bIns="0" rtlCol="0" anchor="t"/>
          <a:lstStyle/>
          <a:p>
            <a:pPr algn="l" indent="0" marL="0">
              <a:lnSpc>
                <a:spcPts val="2600"/>
              </a:lnSpc>
              <a:buNone/>
            </a:pPr>
            <a:r>
              <a:rPr lang="en-US" sz="1600" dirty="0">
                <a:solidFill>
                  <a:srgbClr val="2C2821"/>
                </a:solidFill>
                <a:latin typeface="Lora" pitchFamily="34" charset="0"/>
                <a:ea typeface="Lora" pitchFamily="34" charset="-122"/>
                <a:cs typeface="Lora" pitchFamily="34" charset="-120"/>
              </a:rPr>
              <a:t>The system is designed to serve as a first-level, informative assistant for promoting wellness using traditional and natural practices.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53572"/>
            <a:ext cx="7098030" cy="708779"/>
          </a:xfrm>
          <a:prstGeom prst="rect">
            <a:avLst/>
          </a:prstGeom>
          <a:noFill/>
          <a:ln/>
        </p:spPr>
        <p:txBody>
          <a:bodyPr wrap="none" lIns="0" tIns="0" rIns="0" bIns="0" rtlCol="0" anchor="t"/>
          <a:lstStyle/>
          <a:p>
            <a:pPr algn="l" indent="0" marL="0">
              <a:lnSpc>
                <a:spcPts val="5550"/>
              </a:lnSpc>
              <a:buNone/>
            </a:pPr>
            <a:r>
              <a:rPr lang="en-US" sz="4450" b="1" dirty="0">
                <a:solidFill>
                  <a:srgbClr val="233E32"/>
                </a:solidFill>
                <a:latin typeface="Alice" pitchFamily="34" charset="0"/>
                <a:ea typeface="Alice" pitchFamily="34" charset="-122"/>
                <a:cs typeface="Alice" pitchFamily="34" charset="-120"/>
              </a:rPr>
              <a:t>                     Technology Stack</a:t>
            </a:r>
            <a:endParaRPr lang="en-US" sz="4450" dirty="0"/>
          </a:p>
        </p:txBody>
      </p:sp>
      <p:sp>
        <p:nvSpPr>
          <p:cNvPr id="3" name="Text 1"/>
          <p:cNvSpPr/>
          <p:nvPr/>
        </p:nvSpPr>
        <p:spPr>
          <a:xfrm>
            <a:off x="793790" y="2115979"/>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Operating System:</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Windows 10/11 or Ubuntu 20.04</a:t>
            </a:r>
            <a:endParaRPr lang="en-US" sz="1750" dirty="0"/>
          </a:p>
        </p:txBody>
      </p:sp>
      <p:sp>
        <p:nvSpPr>
          <p:cNvPr id="4" name="Text 2"/>
          <p:cNvSpPr/>
          <p:nvPr/>
        </p:nvSpPr>
        <p:spPr>
          <a:xfrm>
            <a:off x="793790" y="2734032"/>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Programming Language: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Python 3.8</a:t>
            </a:r>
            <a:endParaRPr lang="en-US" sz="1750" dirty="0"/>
          </a:p>
        </p:txBody>
      </p:sp>
      <p:sp>
        <p:nvSpPr>
          <p:cNvPr id="5" name="Text 3"/>
          <p:cNvSpPr/>
          <p:nvPr/>
        </p:nvSpPr>
        <p:spPr>
          <a:xfrm>
            <a:off x="793790" y="3352086"/>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Frameworks &amp; Libraries: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The core technologies employed include Rasa (Core &amp; NLU) for conversational AI, Hugging Face Transformers (e.g., T5/BERT) for advanced language understanding.</a:t>
            </a:r>
            <a:endParaRPr lang="en-US" sz="1750" dirty="0"/>
          </a:p>
        </p:txBody>
      </p:sp>
      <p:sp>
        <p:nvSpPr>
          <p:cNvPr id="6" name="Text 4"/>
          <p:cNvSpPr/>
          <p:nvPr/>
        </p:nvSpPr>
        <p:spPr>
          <a:xfrm>
            <a:off x="793790" y="4333042"/>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Frontend</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 React</a:t>
            </a:r>
            <a:endParaRPr lang="en-US" sz="1750" dirty="0"/>
          </a:p>
        </p:txBody>
      </p:sp>
      <p:sp>
        <p:nvSpPr>
          <p:cNvPr id="7" name="Text 5"/>
          <p:cNvSpPr/>
          <p:nvPr/>
        </p:nvSpPr>
        <p:spPr>
          <a:xfrm>
            <a:off x="793790" y="4951095"/>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Backend</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 Flask</a:t>
            </a:r>
            <a:endParaRPr lang="en-US" sz="1750" dirty="0"/>
          </a:p>
        </p:txBody>
      </p:sp>
      <p:sp>
        <p:nvSpPr>
          <p:cNvPr id="8" name="Text 6"/>
          <p:cNvSpPr/>
          <p:nvPr/>
        </p:nvSpPr>
        <p:spPr>
          <a:xfrm>
            <a:off x="793790" y="5569148"/>
            <a:ext cx="13042821" cy="1088708"/>
          </a:xfrm>
          <a:prstGeom prst="rect">
            <a:avLst/>
          </a:prstGeom>
          <a:noFill/>
          <a:ln/>
        </p:spPr>
        <p:txBody>
          <a:bodyPr wrap="squar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APIs &amp; Tools: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For handling voice input, the Web Speech API will be utilized to convert spoken language into text. To securely store user feedback and suggested remedies, a database solution such as SQLite is implemented. We used Gemini API to generate generalized health related schedules. </a:t>
            </a:r>
            <a:endParaRPr lang="en-US" sz="1750" dirty="0"/>
          </a:p>
        </p:txBody>
      </p:sp>
      <p:sp>
        <p:nvSpPr>
          <p:cNvPr id="9" name="Text 7"/>
          <p:cNvSpPr/>
          <p:nvPr/>
        </p:nvSpPr>
        <p:spPr>
          <a:xfrm>
            <a:off x="793790" y="6913007"/>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IDE: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VS Code </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3777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Dataset</a:t>
            </a:r>
            <a:endParaRPr lang="en-US" sz="4450" dirty="0"/>
          </a:p>
        </p:txBody>
      </p:sp>
      <p:pic>
        <p:nvPicPr>
          <p:cNvPr id="4" name="Image 1" descr="preencoded.png">
            <a:hlinkClick r:id="rId3" tooltip=""/>
          </p:cNvPr>
          <p:cNvPicPr>
            <a:picLocks noChangeAspect="1"/>
          </p:cNvPicPr>
          <p:nvPr/>
        </p:nvPicPr>
        <p:blipFill>
          <a:blip r:embed="rId2"/>
          <a:stretch>
            <a:fillRect/>
          </a:stretch>
        </p:blipFill>
        <p:spPr>
          <a:xfrm>
            <a:off x="793790" y="2286714"/>
            <a:ext cx="7556421" cy="623768"/>
          </a:xfrm>
          <a:prstGeom prst="rect">
            <a:avLst/>
          </a:prstGeom>
        </p:spPr>
      </p:pic>
      <p:sp>
        <p:nvSpPr>
          <p:cNvPr id="5" name="Shape 1"/>
          <p:cNvSpPr/>
          <p:nvPr/>
        </p:nvSpPr>
        <p:spPr>
          <a:xfrm>
            <a:off x="793790" y="3165634"/>
            <a:ext cx="7556421" cy="2329101"/>
          </a:xfrm>
          <a:prstGeom prst="roundRect">
            <a:avLst>
              <a:gd name="adj" fmla="val 1461"/>
            </a:avLst>
          </a:prstGeom>
          <a:noFill/>
          <a:ln w="7620">
            <a:solidFill>
              <a:srgbClr val="000000">
                <a:alpha val="8000"/>
              </a:srgbClr>
            </a:solidFill>
            <a:prstDash val="solid"/>
          </a:ln>
        </p:spPr>
      </p:sp>
      <p:sp>
        <p:nvSpPr>
          <p:cNvPr id="6" name="Shape 2"/>
          <p:cNvSpPr/>
          <p:nvPr/>
        </p:nvSpPr>
        <p:spPr>
          <a:xfrm>
            <a:off x="801410" y="3173254"/>
            <a:ext cx="7541181" cy="650319"/>
          </a:xfrm>
          <a:prstGeom prst="rect">
            <a:avLst/>
          </a:prstGeom>
          <a:solidFill>
            <a:srgbClr val="FFFFFF">
              <a:alpha val="4000"/>
            </a:srgbClr>
          </a:solidFill>
          <a:ln/>
        </p:spPr>
      </p:sp>
      <p:sp>
        <p:nvSpPr>
          <p:cNvPr id="7" name="Text 3"/>
          <p:cNvSpPr/>
          <p:nvPr/>
        </p:nvSpPr>
        <p:spPr>
          <a:xfrm>
            <a:off x="1028343" y="3316962"/>
            <a:ext cx="1206817"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Dataset</a:t>
            </a:r>
            <a:endParaRPr lang="en-US" sz="1750" dirty="0"/>
          </a:p>
        </p:txBody>
      </p:sp>
      <p:sp>
        <p:nvSpPr>
          <p:cNvPr id="8" name="Text 4"/>
          <p:cNvSpPr/>
          <p:nvPr/>
        </p:nvSpPr>
        <p:spPr>
          <a:xfrm>
            <a:off x="2696408" y="3316962"/>
            <a:ext cx="5419368"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Kaggle Home Remedies Dataset</a:t>
            </a:r>
            <a:endParaRPr lang="en-US" sz="1750" dirty="0"/>
          </a:p>
        </p:txBody>
      </p:sp>
      <p:sp>
        <p:nvSpPr>
          <p:cNvPr id="9" name="Shape 5"/>
          <p:cNvSpPr/>
          <p:nvPr/>
        </p:nvSpPr>
        <p:spPr>
          <a:xfrm>
            <a:off x="801410" y="3823573"/>
            <a:ext cx="7541181" cy="650319"/>
          </a:xfrm>
          <a:prstGeom prst="rect">
            <a:avLst/>
          </a:prstGeom>
          <a:solidFill>
            <a:srgbClr val="000000">
              <a:alpha val="4000"/>
            </a:srgbClr>
          </a:solidFill>
          <a:ln/>
        </p:spPr>
      </p:sp>
      <p:sp>
        <p:nvSpPr>
          <p:cNvPr id="10" name="Text 6"/>
          <p:cNvSpPr/>
          <p:nvPr/>
        </p:nvSpPr>
        <p:spPr>
          <a:xfrm>
            <a:off x="1028343" y="3967282"/>
            <a:ext cx="1206817"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Content</a:t>
            </a:r>
            <a:endParaRPr lang="en-US" sz="1750" dirty="0"/>
          </a:p>
        </p:txBody>
      </p:sp>
      <p:sp>
        <p:nvSpPr>
          <p:cNvPr id="11" name="Text 7"/>
          <p:cNvSpPr/>
          <p:nvPr/>
        </p:nvSpPr>
        <p:spPr>
          <a:xfrm>
            <a:off x="2696408" y="3967282"/>
            <a:ext cx="5419368"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Home remedies for various health issues</a:t>
            </a:r>
            <a:endParaRPr lang="en-US" sz="1750" dirty="0"/>
          </a:p>
        </p:txBody>
      </p:sp>
      <p:sp>
        <p:nvSpPr>
          <p:cNvPr id="12" name="Shape 8"/>
          <p:cNvSpPr/>
          <p:nvPr/>
        </p:nvSpPr>
        <p:spPr>
          <a:xfrm>
            <a:off x="801410" y="4473893"/>
            <a:ext cx="7541181" cy="1013222"/>
          </a:xfrm>
          <a:prstGeom prst="rect">
            <a:avLst/>
          </a:prstGeom>
          <a:solidFill>
            <a:srgbClr val="FFFFFF">
              <a:alpha val="4000"/>
            </a:srgbClr>
          </a:solidFill>
          <a:ln/>
        </p:spPr>
      </p:sp>
      <p:sp>
        <p:nvSpPr>
          <p:cNvPr id="13" name="Text 9"/>
          <p:cNvSpPr/>
          <p:nvPr/>
        </p:nvSpPr>
        <p:spPr>
          <a:xfrm>
            <a:off x="1028343" y="4617601"/>
            <a:ext cx="1206817"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Features</a:t>
            </a:r>
            <a:endParaRPr lang="en-US" sz="1750" dirty="0"/>
          </a:p>
        </p:txBody>
      </p:sp>
      <p:sp>
        <p:nvSpPr>
          <p:cNvPr id="14" name="Text 10"/>
          <p:cNvSpPr/>
          <p:nvPr/>
        </p:nvSpPr>
        <p:spPr>
          <a:xfrm>
            <a:off x="2696408" y="4617601"/>
            <a:ext cx="5419368"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Ingredients, recipes, traditional remedies, and health tips</a:t>
            </a:r>
            <a:endParaRPr lang="en-US" sz="1750" dirty="0"/>
          </a:p>
        </p:txBody>
      </p:sp>
      <p:sp>
        <p:nvSpPr>
          <p:cNvPr id="15" name="Text 11"/>
          <p:cNvSpPr/>
          <p:nvPr/>
        </p:nvSpPr>
        <p:spPr>
          <a:xfrm>
            <a:off x="793790" y="5749885"/>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ARTICLES:</a:t>
            </a:r>
            <a:endParaRPr lang="en-US" sz="1750" dirty="0"/>
          </a:p>
        </p:txBody>
      </p:sp>
      <p:pic>
        <p:nvPicPr>
          <p:cNvPr id="16" name="Image 2" descr="preencoded.png">
            <a:hlinkClick r:id="rId5" tooltip=""/>
          </p:cNvPr>
          <p:cNvPicPr>
            <a:picLocks noChangeAspect="1"/>
          </p:cNvPicPr>
          <p:nvPr/>
        </p:nvPicPr>
        <p:blipFill>
          <a:blip r:embed="rId4"/>
          <a:stretch>
            <a:fillRect/>
          </a:stretch>
        </p:blipFill>
        <p:spPr>
          <a:xfrm>
            <a:off x="793790" y="6367939"/>
            <a:ext cx="7121962" cy="6237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691878"/>
            <a:ext cx="10221516" cy="708779"/>
          </a:xfrm>
          <a:prstGeom prst="rect">
            <a:avLst/>
          </a:prstGeom>
          <a:noFill/>
          <a:ln/>
        </p:spPr>
        <p:txBody>
          <a:bodyPr wrap="none" lIns="0" tIns="0" rIns="0" bIns="0" rtlCol="0" anchor="t"/>
          <a:lstStyle/>
          <a:p>
            <a:pPr algn="l" indent="0" marL="0">
              <a:lnSpc>
                <a:spcPts val="5550"/>
              </a:lnSpc>
              <a:buNone/>
            </a:pPr>
            <a:r>
              <a:rPr lang="en-US" sz="4450" b="1" dirty="0">
                <a:solidFill>
                  <a:srgbClr val="233E32"/>
                </a:solidFill>
                <a:latin typeface="Alice" pitchFamily="34" charset="0"/>
                <a:ea typeface="Alice" pitchFamily="34" charset="-122"/>
                <a:cs typeface="Alice" pitchFamily="34" charset="-120"/>
              </a:rPr>
              <a:t>Trusted Data Sources for Our Health Bot</a:t>
            </a:r>
            <a:endParaRPr lang="en-US" sz="4450" dirty="0"/>
          </a:p>
        </p:txBody>
      </p:sp>
      <p:sp>
        <p:nvSpPr>
          <p:cNvPr id="3" name="Text 1"/>
          <p:cNvSpPr/>
          <p:nvPr/>
        </p:nvSpPr>
        <p:spPr>
          <a:xfrm>
            <a:off x="793790" y="2740819"/>
            <a:ext cx="9820156" cy="432911"/>
          </a:xfrm>
          <a:prstGeom prst="rect">
            <a:avLst/>
          </a:prstGeom>
          <a:noFill/>
          <a:ln/>
        </p:spPr>
        <p:txBody>
          <a:bodyPr wrap="none" lIns="0" tIns="0" rIns="0" bIns="0" rtlCol="0" anchor="t"/>
          <a:lstStyle/>
          <a:p>
            <a:pPr algn="l" indent="0" marL="0">
              <a:lnSpc>
                <a:spcPts val="3300"/>
              </a:lnSpc>
              <a:buNone/>
            </a:pPr>
            <a:r>
              <a:rPr lang="en-US" sz="2650" dirty="0">
                <a:solidFill>
                  <a:srgbClr val="000000"/>
                </a:solidFill>
                <a:latin typeface="Alice" pitchFamily="34" charset="0"/>
                <a:ea typeface="Alice" pitchFamily="34" charset="-122"/>
                <a:cs typeface="Alice" pitchFamily="34" charset="-120"/>
              </a:rPr>
              <a:t>1️⃣</a:t>
            </a:r>
            <a:pPr algn="l" indent="0" marL="0">
              <a:lnSpc>
                <a:spcPts val="3300"/>
              </a:lnSpc>
              <a:buNone/>
            </a:pPr>
            <a:r>
              <a:rPr lang="en-US" sz="2650" dirty="0">
                <a:solidFill>
                  <a:srgbClr val="233E32"/>
                </a:solidFill>
                <a:latin typeface="Alice" pitchFamily="34" charset="0"/>
                <a:ea typeface="Alice" pitchFamily="34" charset="-122"/>
                <a:cs typeface="Alice" pitchFamily="34" charset="-120"/>
              </a:rPr>
              <a:t> </a:t>
            </a:r>
            <a:pPr algn="l" indent="0" marL="0">
              <a:lnSpc>
                <a:spcPts val="3300"/>
              </a:lnSpc>
              <a:buNone/>
            </a:pPr>
            <a:r>
              <a:rPr lang="en-US" sz="2650" b="1" dirty="0">
                <a:solidFill>
                  <a:srgbClr val="233E32"/>
                </a:solidFill>
                <a:latin typeface="Alice" pitchFamily="34" charset="0"/>
                <a:ea typeface="Alice" pitchFamily="34" charset="-122"/>
                <a:cs typeface="Alice" pitchFamily="34" charset="-120"/>
              </a:rPr>
              <a:t>Kaggle</a:t>
            </a:r>
            <a:pPr algn="l" indent="0" marL="0">
              <a:lnSpc>
                <a:spcPts val="3300"/>
              </a:lnSpc>
              <a:buNone/>
            </a:pPr>
            <a:r>
              <a:rPr lang="en-US" sz="2650" dirty="0">
                <a:solidFill>
                  <a:srgbClr val="233E32"/>
                </a:solidFill>
                <a:latin typeface="Alice" pitchFamily="34" charset="0"/>
                <a:ea typeface="Alice" pitchFamily="34" charset="-122"/>
                <a:cs typeface="Alice" pitchFamily="34" charset="-120"/>
              </a:rPr>
              <a:t> – A Reliable Source for Medical Datasets &amp; AI Training</a:t>
            </a:r>
            <a:endParaRPr lang="en-US" sz="2650" dirty="0"/>
          </a:p>
        </p:txBody>
      </p:sp>
      <p:sp>
        <p:nvSpPr>
          <p:cNvPr id="4" name="Text 2"/>
          <p:cNvSpPr/>
          <p:nvPr/>
        </p:nvSpPr>
        <p:spPr>
          <a:xfrm>
            <a:off x="793790" y="3513892"/>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Home to a vast collection of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health-related datasets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contributed by researchers and healthcare institutions.</a:t>
            </a:r>
            <a:endParaRPr lang="en-US" sz="1750" dirty="0"/>
          </a:p>
        </p:txBody>
      </p:sp>
      <p:sp>
        <p:nvSpPr>
          <p:cNvPr id="5" name="Text 3"/>
          <p:cNvSpPr/>
          <p:nvPr/>
        </p:nvSpPr>
        <p:spPr>
          <a:xfrm>
            <a:off x="793790" y="3956090"/>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Used to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train AI models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for diagnosing symptoms and recommending home remedies.</a:t>
            </a:r>
            <a:endParaRPr lang="en-US" sz="1750" dirty="0"/>
          </a:p>
        </p:txBody>
      </p:sp>
      <p:sp>
        <p:nvSpPr>
          <p:cNvPr id="6" name="Text 4"/>
          <p:cNvSpPr/>
          <p:nvPr/>
        </p:nvSpPr>
        <p:spPr>
          <a:xfrm>
            <a:off x="793790" y="4398288"/>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Datasets are reviewed by a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large data science community</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ensuring quality control.</a:t>
            </a:r>
            <a:endParaRPr lang="en-US" sz="1750" dirty="0"/>
          </a:p>
        </p:txBody>
      </p:sp>
      <p:sp>
        <p:nvSpPr>
          <p:cNvPr id="7" name="Text 5"/>
          <p:cNvSpPr/>
          <p:nvPr/>
        </p:nvSpPr>
        <p:spPr>
          <a:xfrm>
            <a:off x="793790" y="5016341"/>
            <a:ext cx="13042821" cy="461129"/>
          </a:xfrm>
          <a:prstGeom prst="rect">
            <a:avLst/>
          </a:prstGeom>
          <a:noFill/>
          <a:ln/>
        </p:spPr>
        <p:txBody>
          <a:bodyPr wrap="none" lIns="0" tIns="0" rIns="0" bIns="0" rtlCol="0" anchor="t"/>
          <a:lstStyle/>
          <a:p>
            <a:pPr algn="l" indent="0" marL="0">
              <a:lnSpc>
                <a:spcPts val="3550"/>
              </a:lnSpc>
              <a:buNone/>
            </a:pPr>
            <a:r>
              <a:rPr lang="en-US" sz="2200" dirty="0">
                <a:solidFill>
                  <a:srgbClr val="000000"/>
                </a:solidFill>
                <a:latin typeface="Lora" pitchFamily="34" charset="0"/>
                <a:ea typeface="Lora" pitchFamily="34" charset="-122"/>
                <a:cs typeface="Lora" pitchFamily="34" charset="-120"/>
              </a:rPr>
              <a:t>2️⃣</a:t>
            </a:r>
            <a:pPr algn="l" indent="0" marL="0">
              <a:lnSpc>
                <a:spcPts val="3550"/>
              </a:lnSpc>
              <a:buNone/>
            </a:pPr>
            <a:r>
              <a:rPr lang="en-US" sz="2200" b="1" dirty="0">
                <a:solidFill>
                  <a:srgbClr val="2C2821"/>
                </a:solidFill>
                <a:latin typeface="Lora" pitchFamily="34" charset="0"/>
                <a:ea typeface="Lora" pitchFamily="34" charset="-122"/>
                <a:cs typeface="Lora" pitchFamily="34" charset="-120"/>
              </a:rPr>
              <a:t> WebMD </a:t>
            </a:r>
            <a:pPr algn="l" indent="0" marL="0">
              <a:lnSpc>
                <a:spcPts val="3550"/>
              </a:lnSpc>
              <a:buNone/>
            </a:pPr>
            <a:r>
              <a:rPr lang="en-US" sz="2200" dirty="0">
                <a:solidFill>
                  <a:srgbClr val="2C2821"/>
                </a:solidFill>
                <a:latin typeface="Lora" pitchFamily="34" charset="0"/>
                <a:ea typeface="Lora" pitchFamily="34" charset="-122"/>
                <a:cs typeface="Lora" pitchFamily="34" charset="-120"/>
              </a:rPr>
              <a:t>– A Recognized Medical Information Platform</a:t>
            </a:r>
            <a:endParaRPr lang="en-US" sz="2200" dirty="0"/>
          </a:p>
        </p:txBody>
      </p:sp>
      <p:sp>
        <p:nvSpPr>
          <p:cNvPr id="8" name="Text 6"/>
          <p:cNvSpPr/>
          <p:nvPr/>
        </p:nvSpPr>
        <p:spPr>
          <a:xfrm>
            <a:off x="793790" y="5732621"/>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Provides medically reviewed content by doctors and healthcare professionals</a:t>
            </a:r>
            <a:endParaRPr lang="en-US" sz="1750" dirty="0"/>
          </a:p>
        </p:txBody>
      </p:sp>
      <p:sp>
        <p:nvSpPr>
          <p:cNvPr id="9" name="Text 7"/>
          <p:cNvSpPr/>
          <p:nvPr/>
        </p:nvSpPr>
        <p:spPr>
          <a:xfrm>
            <a:off x="793790" y="6174819"/>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Verified drug interactions, side effects, and self-care solutions.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8071" y="595551"/>
            <a:ext cx="5414963" cy="676870"/>
          </a:xfrm>
          <a:prstGeom prst="rect">
            <a:avLst/>
          </a:prstGeom>
          <a:noFill/>
          <a:ln/>
        </p:spPr>
        <p:txBody>
          <a:bodyPr wrap="none" lIns="0" tIns="0" rIns="0" bIns="0" rtlCol="0" anchor="t"/>
          <a:lstStyle/>
          <a:p>
            <a:pPr algn="l" indent="0" marL="0">
              <a:lnSpc>
                <a:spcPts val="5300"/>
              </a:lnSpc>
              <a:buNone/>
            </a:pPr>
            <a:r>
              <a:rPr lang="en-US" sz="4250" dirty="0">
                <a:solidFill>
                  <a:srgbClr val="233E32"/>
                </a:solidFill>
                <a:latin typeface="Alice" pitchFamily="34" charset="0"/>
                <a:ea typeface="Alice" pitchFamily="34" charset="-122"/>
                <a:cs typeface="Alice" pitchFamily="34" charset="-120"/>
              </a:rPr>
              <a:t>Process Flow </a:t>
            </a:r>
            <a:endParaRPr lang="en-US" sz="4250" dirty="0"/>
          </a:p>
        </p:txBody>
      </p:sp>
      <p:pic>
        <p:nvPicPr>
          <p:cNvPr id="3" name="Image 0" descr="preencoded.png">    </p:cNvPr>
          <p:cNvPicPr>
            <a:picLocks noChangeAspect="1"/>
          </p:cNvPicPr>
          <p:nvPr/>
        </p:nvPicPr>
        <p:blipFill>
          <a:blip r:embed="rId1"/>
          <a:stretch>
            <a:fillRect/>
          </a:stretch>
        </p:blipFill>
        <p:spPr>
          <a:xfrm>
            <a:off x="3404949" y="1705570"/>
            <a:ext cx="7820501" cy="59293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8071" y="595551"/>
            <a:ext cx="5414963" cy="676870"/>
          </a:xfrm>
          <a:prstGeom prst="rect">
            <a:avLst/>
          </a:prstGeom>
          <a:noFill/>
          <a:ln/>
        </p:spPr>
        <p:txBody>
          <a:bodyPr wrap="none" lIns="0" tIns="0" rIns="0" bIns="0" rtlCol="0" anchor="t"/>
          <a:lstStyle/>
          <a:p>
            <a:pPr algn="l" indent="0" marL="0">
              <a:lnSpc>
                <a:spcPts val="5300"/>
              </a:lnSpc>
              <a:buNone/>
            </a:pPr>
            <a:r>
              <a:rPr lang="en-US" sz="4250" dirty="0">
                <a:solidFill>
                  <a:srgbClr val="233E32"/>
                </a:solidFill>
                <a:latin typeface="Alice" pitchFamily="34" charset="0"/>
                <a:ea typeface="Alice" pitchFamily="34" charset="-122"/>
                <a:cs typeface="Alice" pitchFamily="34" charset="-120"/>
              </a:rPr>
              <a:t>System Architecture </a:t>
            </a:r>
            <a:endParaRPr lang="en-US" sz="4250" dirty="0"/>
          </a:p>
        </p:txBody>
      </p:sp>
      <p:pic>
        <p:nvPicPr>
          <p:cNvPr id="3" name="Image 0" descr="preencoded.png">    </p:cNvPr>
          <p:cNvPicPr>
            <a:picLocks noChangeAspect="1"/>
          </p:cNvPicPr>
          <p:nvPr/>
        </p:nvPicPr>
        <p:blipFill>
          <a:blip r:embed="rId1"/>
          <a:stretch>
            <a:fillRect/>
          </a:stretch>
        </p:blipFill>
        <p:spPr>
          <a:xfrm>
            <a:off x="4441269" y="1705570"/>
            <a:ext cx="5747742" cy="59293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9115" y="423624"/>
            <a:ext cx="3884414" cy="481370"/>
          </a:xfrm>
          <a:prstGeom prst="rect">
            <a:avLst/>
          </a:prstGeom>
          <a:noFill/>
          <a:ln/>
        </p:spPr>
        <p:txBody>
          <a:bodyPr wrap="none" lIns="0" tIns="0" rIns="0" bIns="0" rtlCol="0" anchor="t"/>
          <a:lstStyle/>
          <a:p>
            <a:pPr algn="l" indent="0" marL="0">
              <a:lnSpc>
                <a:spcPts val="3750"/>
              </a:lnSpc>
              <a:buNone/>
            </a:pPr>
            <a:r>
              <a:rPr lang="en-US" sz="3000" dirty="0">
                <a:solidFill>
                  <a:srgbClr val="233E32"/>
                </a:solidFill>
                <a:latin typeface="Alice" pitchFamily="34" charset="0"/>
                <a:ea typeface="Alice" pitchFamily="34" charset="-122"/>
                <a:cs typeface="Alice" pitchFamily="34" charset="-120"/>
              </a:rPr>
              <a:t>Available Technologies</a:t>
            </a:r>
            <a:endParaRPr lang="en-US" sz="3000" dirty="0"/>
          </a:p>
        </p:txBody>
      </p:sp>
      <p:sp>
        <p:nvSpPr>
          <p:cNvPr id="3" name="Text 1"/>
          <p:cNvSpPr/>
          <p:nvPr/>
        </p:nvSpPr>
        <p:spPr>
          <a:xfrm>
            <a:off x="539115" y="1135975"/>
            <a:ext cx="3222427" cy="288846"/>
          </a:xfrm>
          <a:prstGeom prst="rect">
            <a:avLst/>
          </a:prstGeom>
          <a:noFill/>
          <a:ln/>
        </p:spPr>
        <p:txBody>
          <a:bodyPr wrap="none" lIns="0" tIns="0" rIns="0" bIns="0" rtlCol="0" anchor="t"/>
          <a:lstStyle/>
          <a:p>
            <a:pPr algn="l" indent="0" marL="0">
              <a:lnSpc>
                <a:spcPts val="2250"/>
              </a:lnSpc>
              <a:buNone/>
            </a:pPr>
            <a:r>
              <a:rPr lang="en-US" sz="1800" b="1" dirty="0">
                <a:solidFill>
                  <a:srgbClr val="233E32"/>
                </a:solidFill>
                <a:latin typeface="Alice" pitchFamily="34" charset="0"/>
                <a:ea typeface="Alice" pitchFamily="34" charset="-122"/>
                <a:cs typeface="Alice" pitchFamily="34" charset="-120"/>
              </a:rPr>
              <a:t>Platforms for Chatbot Building:</a:t>
            </a:r>
            <a:endParaRPr lang="en-US" sz="1800" dirty="0"/>
          </a:p>
        </p:txBody>
      </p:sp>
      <p:sp>
        <p:nvSpPr>
          <p:cNvPr id="4" name="Shape 2"/>
          <p:cNvSpPr/>
          <p:nvPr/>
        </p:nvSpPr>
        <p:spPr>
          <a:xfrm>
            <a:off x="539115" y="1655802"/>
            <a:ext cx="13552170" cy="4665821"/>
          </a:xfrm>
          <a:prstGeom prst="roundRect">
            <a:avLst>
              <a:gd name="adj" fmla="val 495"/>
            </a:avLst>
          </a:prstGeom>
          <a:noFill/>
          <a:ln w="7620">
            <a:solidFill>
              <a:srgbClr val="000000">
                <a:alpha val="8000"/>
              </a:srgbClr>
            </a:solidFill>
            <a:prstDash val="solid"/>
          </a:ln>
        </p:spPr>
      </p:sp>
      <p:sp>
        <p:nvSpPr>
          <p:cNvPr id="5" name="Shape 3"/>
          <p:cNvSpPr/>
          <p:nvPr/>
        </p:nvSpPr>
        <p:spPr>
          <a:xfrm>
            <a:off x="546735" y="1663422"/>
            <a:ext cx="13536930" cy="446484"/>
          </a:xfrm>
          <a:prstGeom prst="rect">
            <a:avLst/>
          </a:prstGeom>
          <a:solidFill>
            <a:srgbClr val="FFFFFF">
              <a:alpha val="4000"/>
            </a:srgbClr>
          </a:solidFill>
          <a:ln/>
        </p:spPr>
      </p:sp>
      <p:sp>
        <p:nvSpPr>
          <p:cNvPr id="6" name="Text 4"/>
          <p:cNvSpPr/>
          <p:nvPr/>
        </p:nvSpPr>
        <p:spPr>
          <a:xfrm>
            <a:off x="700683" y="1763435"/>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Technology</a:t>
            </a:r>
            <a:endParaRPr lang="en-US" sz="1200" dirty="0"/>
          </a:p>
        </p:txBody>
      </p:sp>
      <p:sp>
        <p:nvSpPr>
          <p:cNvPr id="7" name="Text 5"/>
          <p:cNvSpPr/>
          <p:nvPr/>
        </p:nvSpPr>
        <p:spPr>
          <a:xfrm>
            <a:off x="4088725" y="1763435"/>
            <a:ext cx="306871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Pros</a:t>
            </a:r>
            <a:endParaRPr lang="en-US" sz="1200" dirty="0"/>
          </a:p>
        </p:txBody>
      </p:sp>
      <p:sp>
        <p:nvSpPr>
          <p:cNvPr id="8" name="Text 6"/>
          <p:cNvSpPr/>
          <p:nvPr/>
        </p:nvSpPr>
        <p:spPr>
          <a:xfrm>
            <a:off x="7472958" y="1763435"/>
            <a:ext cx="306871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Cons</a:t>
            </a:r>
            <a:endParaRPr lang="en-US" sz="1200" dirty="0"/>
          </a:p>
        </p:txBody>
      </p:sp>
      <p:sp>
        <p:nvSpPr>
          <p:cNvPr id="9" name="Text 7"/>
          <p:cNvSpPr/>
          <p:nvPr/>
        </p:nvSpPr>
        <p:spPr>
          <a:xfrm>
            <a:off x="10857190" y="1763435"/>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Fit for Project</a:t>
            </a:r>
            <a:endParaRPr lang="en-US" sz="1200" dirty="0"/>
          </a:p>
        </p:txBody>
      </p:sp>
      <p:sp>
        <p:nvSpPr>
          <p:cNvPr id="10" name="Shape 8"/>
          <p:cNvSpPr/>
          <p:nvPr/>
        </p:nvSpPr>
        <p:spPr>
          <a:xfrm>
            <a:off x="546735" y="2109907"/>
            <a:ext cx="13536930" cy="939403"/>
          </a:xfrm>
          <a:prstGeom prst="rect">
            <a:avLst/>
          </a:prstGeom>
          <a:solidFill>
            <a:srgbClr val="000000">
              <a:alpha val="4000"/>
            </a:srgbClr>
          </a:solidFill>
          <a:ln/>
        </p:spPr>
      </p:sp>
      <p:sp>
        <p:nvSpPr>
          <p:cNvPr id="11" name="Text 9"/>
          <p:cNvSpPr/>
          <p:nvPr/>
        </p:nvSpPr>
        <p:spPr>
          <a:xfrm>
            <a:off x="700683" y="2209919"/>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Rasa</a:t>
            </a:r>
            <a:endParaRPr lang="en-US" sz="1200" dirty="0"/>
          </a:p>
        </p:txBody>
      </p:sp>
      <p:sp>
        <p:nvSpPr>
          <p:cNvPr id="12" name="Text 10"/>
          <p:cNvSpPr/>
          <p:nvPr/>
        </p:nvSpPr>
        <p:spPr>
          <a:xfrm>
            <a:off x="4088725" y="2209919"/>
            <a:ext cx="3068717" cy="739378"/>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Customizable, open-source, supports multi-input formats, integrates with backend, multilingual support.</a:t>
            </a:r>
            <a:endParaRPr lang="en-US" sz="1200" dirty="0"/>
          </a:p>
        </p:txBody>
      </p:sp>
      <p:sp>
        <p:nvSpPr>
          <p:cNvPr id="13" name="Text 11"/>
          <p:cNvSpPr/>
          <p:nvPr/>
        </p:nvSpPr>
        <p:spPr>
          <a:xfrm>
            <a:off x="7472958" y="2209919"/>
            <a:ext cx="3068717" cy="492919"/>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Complex setup, requires significant training data.</a:t>
            </a:r>
            <a:endParaRPr lang="en-US" sz="1200" dirty="0"/>
          </a:p>
        </p:txBody>
      </p:sp>
      <p:sp>
        <p:nvSpPr>
          <p:cNvPr id="14" name="Text 12"/>
          <p:cNvSpPr/>
          <p:nvPr/>
        </p:nvSpPr>
        <p:spPr>
          <a:xfrm>
            <a:off x="10857190" y="2209919"/>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Good</a:t>
            </a:r>
            <a:endParaRPr lang="en-US" sz="1200" dirty="0"/>
          </a:p>
        </p:txBody>
      </p:sp>
      <p:sp>
        <p:nvSpPr>
          <p:cNvPr id="15" name="Shape 13"/>
          <p:cNvSpPr/>
          <p:nvPr/>
        </p:nvSpPr>
        <p:spPr>
          <a:xfrm>
            <a:off x="546735" y="3049310"/>
            <a:ext cx="13536930" cy="939403"/>
          </a:xfrm>
          <a:prstGeom prst="rect">
            <a:avLst/>
          </a:prstGeom>
          <a:solidFill>
            <a:srgbClr val="FFFFFF">
              <a:alpha val="4000"/>
            </a:srgbClr>
          </a:solidFill>
          <a:ln/>
        </p:spPr>
      </p:sp>
      <p:sp>
        <p:nvSpPr>
          <p:cNvPr id="16" name="Text 14"/>
          <p:cNvSpPr/>
          <p:nvPr/>
        </p:nvSpPr>
        <p:spPr>
          <a:xfrm>
            <a:off x="700683" y="3149322"/>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Dialogflow</a:t>
            </a:r>
            <a:endParaRPr lang="en-US" sz="1200" dirty="0"/>
          </a:p>
        </p:txBody>
      </p:sp>
      <p:sp>
        <p:nvSpPr>
          <p:cNvPr id="17" name="Text 15"/>
          <p:cNvSpPr/>
          <p:nvPr/>
        </p:nvSpPr>
        <p:spPr>
          <a:xfrm>
            <a:off x="4088725" y="3149322"/>
            <a:ext cx="3068717" cy="739378"/>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Easy to use, integrates well with Google services (Firebase), multi-platform support, multilingual.</a:t>
            </a:r>
            <a:endParaRPr lang="en-US" sz="1200" dirty="0"/>
          </a:p>
        </p:txBody>
      </p:sp>
      <p:sp>
        <p:nvSpPr>
          <p:cNvPr id="18" name="Text 16"/>
          <p:cNvSpPr/>
          <p:nvPr/>
        </p:nvSpPr>
        <p:spPr>
          <a:xfrm>
            <a:off x="7472958" y="3149322"/>
            <a:ext cx="3068717" cy="492919"/>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Limited customization, can be expensive at scale.</a:t>
            </a:r>
            <a:endParaRPr lang="en-US" sz="1200" dirty="0"/>
          </a:p>
        </p:txBody>
      </p:sp>
      <p:sp>
        <p:nvSpPr>
          <p:cNvPr id="19" name="Text 17"/>
          <p:cNvSpPr/>
          <p:nvPr/>
        </p:nvSpPr>
        <p:spPr>
          <a:xfrm>
            <a:off x="10857190" y="3149322"/>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Good</a:t>
            </a:r>
            <a:endParaRPr lang="en-US" sz="1200" dirty="0"/>
          </a:p>
        </p:txBody>
      </p:sp>
      <p:sp>
        <p:nvSpPr>
          <p:cNvPr id="20" name="Shape 18"/>
          <p:cNvSpPr/>
          <p:nvPr/>
        </p:nvSpPr>
        <p:spPr>
          <a:xfrm>
            <a:off x="546735" y="3988713"/>
            <a:ext cx="13536930" cy="692944"/>
          </a:xfrm>
          <a:prstGeom prst="rect">
            <a:avLst/>
          </a:prstGeom>
          <a:solidFill>
            <a:srgbClr val="000000">
              <a:alpha val="4000"/>
            </a:srgbClr>
          </a:solidFill>
          <a:ln/>
        </p:spPr>
      </p:sp>
      <p:sp>
        <p:nvSpPr>
          <p:cNvPr id="21" name="Text 19"/>
          <p:cNvSpPr/>
          <p:nvPr/>
        </p:nvSpPr>
        <p:spPr>
          <a:xfrm>
            <a:off x="700683" y="4088725"/>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Twilio Autopilot</a:t>
            </a:r>
            <a:endParaRPr lang="en-US" sz="1200" dirty="0"/>
          </a:p>
        </p:txBody>
      </p:sp>
      <p:sp>
        <p:nvSpPr>
          <p:cNvPr id="22" name="Text 20"/>
          <p:cNvSpPr/>
          <p:nvPr/>
        </p:nvSpPr>
        <p:spPr>
          <a:xfrm>
            <a:off x="4088725" y="4088725"/>
            <a:ext cx="3068717" cy="492919"/>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Multi-channel, integrates with Twilio services, easy to use.</a:t>
            </a:r>
            <a:endParaRPr lang="en-US" sz="1200" dirty="0"/>
          </a:p>
        </p:txBody>
      </p:sp>
      <p:sp>
        <p:nvSpPr>
          <p:cNvPr id="23" name="Text 21"/>
          <p:cNvSpPr/>
          <p:nvPr/>
        </p:nvSpPr>
        <p:spPr>
          <a:xfrm>
            <a:off x="7472958" y="4088725"/>
            <a:ext cx="3068717" cy="492919"/>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Limited customizability compared to Rasa or Hugging Face, pricing.</a:t>
            </a:r>
            <a:endParaRPr lang="en-US" sz="1200" dirty="0"/>
          </a:p>
        </p:txBody>
      </p:sp>
      <p:sp>
        <p:nvSpPr>
          <p:cNvPr id="24" name="Text 22"/>
          <p:cNvSpPr/>
          <p:nvPr/>
        </p:nvSpPr>
        <p:spPr>
          <a:xfrm>
            <a:off x="10857190" y="4088725"/>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Moderate</a:t>
            </a:r>
            <a:endParaRPr lang="en-US" sz="1200" dirty="0"/>
          </a:p>
        </p:txBody>
      </p:sp>
      <p:sp>
        <p:nvSpPr>
          <p:cNvPr id="25" name="Shape 23"/>
          <p:cNvSpPr/>
          <p:nvPr/>
        </p:nvSpPr>
        <p:spPr>
          <a:xfrm>
            <a:off x="546735" y="4681657"/>
            <a:ext cx="13536930" cy="692944"/>
          </a:xfrm>
          <a:prstGeom prst="rect">
            <a:avLst/>
          </a:prstGeom>
          <a:solidFill>
            <a:srgbClr val="FFFFFF">
              <a:alpha val="4000"/>
            </a:srgbClr>
          </a:solidFill>
          <a:ln/>
        </p:spPr>
      </p:sp>
      <p:sp>
        <p:nvSpPr>
          <p:cNvPr id="26" name="Text 24"/>
          <p:cNvSpPr/>
          <p:nvPr/>
        </p:nvSpPr>
        <p:spPr>
          <a:xfrm>
            <a:off x="700683" y="4781669"/>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Amazon Lex</a:t>
            </a:r>
            <a:endParaRPr lang="en-US" sz="1200" dirty="0"/>
          </a:p>
        </p:txBody>
      </p:sp>
      <p:sp>
        <p:nvSpPr>
          <p:cNvPr id="27" name="Text 25"/>
          <p:cNvSpPr/>
          <p:nvPr/>
        </p:nvSpPr>
        <p:spPr>
          <a:xfrm>
            <a:off x="4088725" y="4781669"/>
            <a:ext cx="3068717" cy="492919"/>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Integration with AWS, speech-to-text capabilities, scalable.</a:t>
            </a:r>
            <a:endParaRPr lang="en-US" sz="1200" dirty="0"/>
          </a:p>
        </p:txBody>
      </p:sp>
      <p:sp>
        <p:nvSpPr>
          <p:cNvPr id="28" name="Text 26"/>
          <p:cNvSpPr/>
          <p:nvPr/>
        </p:nvSpPr>
        <p:spPr>
          <a:xfrm>
            <a:off x="7472958" y="4781669"/>
            <a:ext cx="3068717" cy="246459"/>
          </a:xfrm>
          <a:prstGeom prst="rect">
            <a:avLst/>
          </a:prstGeom>
          <a:noFill/>
          <a:ln/>
        </p:spPr>
        <p:txBody>
          <a:bodyPr wrap="non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Limited customizability, AWS-specific.</a:t>
            </a:r>
            <a:endParaRPr lang="en-US" sz="1200" dirty="0"/>
          </a:p>
        </p:txBody>
      </p:sp>
      <p:sp>
        <p:nvSpPr>
          <p:cNvPr id="29" name="Text 27"/>
          <p:cNvSpPr/>
          <p:nvPr/>
        </p:nvSpPr>
        <p:spPr>
          <a:xfrm>
            <a:off x="10857190" y="4781669"/>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Moderate</a:t>
            </a:r>
            <a:endParaRPr lang="en-US" sz="1200" dirty="0"/>
          </a:p>
        </p:txBody>
      </p:sp>
      <p:sp>
        <p:nvSpPr>
          <p:cNvPr id="30" name="Shape 28"/>
          <p:cNvSpPr/>
          <p:nvPr/>
        </p:nvSpPr>
        <p:spPr>
          <a:xfrm>
            <a:off x="546735" y="5374600"/>
            <a:ext cx="13536930" cy="939403"/>
          </a:xfrm>
          <a:prstGeom prst="rect">
            <a:avLst/>
          </a:prstGeom>
          <a:solidFill>
            <a:srgbClr val="000000">
              <a:alpha val="4000"/>
            </a:srgbClr>
          </a:solidFill>
          <a:ln/>
        </p:spPr>
      </p:sp>
      <p:sp>
        <p:nvSpPr>
          <p:cNvPr id="31" name="Text 29"/>
          <p:cNvSpPr/>
          <p:nvPr/>
        </p:nvSpPr>
        <p:spPr>
          <a:xfrm>
            <a:off x="700683" y="5474613"/>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LangChain</a:t>
            </a:r>
            <a:endParaRPr lang="en-US" sz="1200" dirty="0"/>
          </a:p>
        </p:txBody>
      </p:sp>
      <p:sp>
        <p:nvSpPr>
          <p:cNvPr id="32" name="Text 30"/>
          <p:cNvSpPr/>
          <p:nvPr/>
        </p:nvSpPr>
        <p:spPr>
          <a:xfrm>
            <a:off x="4088725" y="5474613"/>
            <a:ext cx="3068717" cy="739378"/>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Orchestrates complex workflows, integrates LLMs with external APIs, flexible.</a:t>
            </a:r>
            <a:endParaRPr lang="en-US" sz="1200" dirty="0"/>
          </a:p>
        </p:txBody>
      </p:sp>
      <p:sp>
        <p:nvSpPr>
          <p:cNvPr id="33" name="Text 31"/>
          <p:cNvSpPr/>
          <p:nvPr/>
        </p:nvSpPr>
        <p:spPr>
          <a:xfrm>
            <a:off x="7472958" y="5474613"/>
            <a:ext cx="3068717" cy="492919"/>
          </a:xfrm>
          <a:prstGeom prst="rect">
            <a:avLst/>
          </a:prstGeom>
          <a:noFill/>
          <a:ln/>
        </p:spPr>
        <p:txBody>
          <a:bodyPr wrap="square" lIns="0" tIns="0" rIns="0" bIns="0" rtlCol="0" anchor="t"/>
          <a:lstStyle/>
          <a:p>
            <a:pPr algn="l" indent="0" marL="0">
              <a:lnSpc>
                <a:spcPts val="1900"/>
              </a:lnSpc>
              <a:buNone/>
            </a:pPr>
            <a:r>
              <a:rPr lang="en-US" sz="1200" dirty="0">
                <a:solidFill>
                  <a:srgbClr val="2C2821"/>
                </a:solidFill>
                <a:latin typeface="Lora" pitchFamily="34" charset="0"/>
                <a:ea typeface="Lora" pitchFamily="34" charset="-122"/>
                <a:cs typeface="Lora" pitchFamily="34" charset="-120"/>
              </a:rPr>
              <a:t>Requires programming expertise, more complex for beginners.</a:t>
            </a:r>
            <a:endParaRPr lang="en-US" sz="1200" dirty="0"/>
          </a:p>
        </p:txBody>
      </p:sp>
      <p:sp>
        <p:nvSpPr>
          <p:cNvPr id="34" name="Text 32"/>
          <p:cNvSpPr/>
          <p:nvPr/>
        </p:nvSpPr>
        <p:spPr>
          <a:xfrm>
            <a:off x="10857190" y="5474613"/>
            <a:ext cx="3072527" cy="246459"/>
          </a:xfrm>
          <a:prstGeom prst="rect">
            <a:avLst/>
          </a:prstGeom>
          <a:noFill/>
          <a:ln/>
        </p:spPr>
        <p:txBody>
          <a:bodyPr wrap="non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Good</a:t>
            </a:r>
            <a:pPr algn="l" indent="0" marL="0">
              <a:lnSpc>
                <a:spcPts val="1900"/>
              </a:lnSpc>
              <a:buNone/>
            </a:pPr>
            <a:r>
              <a:rPr lang="en-US" sz="1200" dirty="0">
                <a:solidFill>
                  <a:srgbClr val="2C2821"/>
                </a:solidFill>
                <a:latin typeface="Lora" pitchFamily="34" charset="0"/>
                <a:ea typeface="Lora" pitchFamily="34" charset="-122"/>
                <a:cs typeface="Lora" pitchFamily="34" charset="-120"/>
              </a:rPr>
              <a:t> for advanced workflows</a:t>
            </a:r>
            <a:endParaRPr lang="en-US" sz="1200" dirty="0"/>
          </a:p>
        </p:txBody>
      </p:sp>
      <p:sp>
        <p:nvSpPr>
          <p:cNvPr id="35" name="Text 33"/>
          <p:cNvSpPr/>
          <p:nvPr/>
        </p:nvSpPr>
        <p:spPr>
          <a:xfrm>
            <a:off x="539115" y="6552605"/>
            <a:ext cx="2310765" cy="288846"/>
          </a:xfrm>
          <a:prstGeom prst="rect">
            <a:avLst/>
          </a:prstGeom>
          <a:noFill/>
          <a:ln/>
        </p:spPr>
        <p:txBody>
          <a:bodyPr wrap="none" lIns="0" tIns="0" rIns="0" bIns="0" rtlCol="0" anchor="t"/>
          <a:lstStyle/>
          <a:p>
            <a:pPr algn="l" indent="0" marL="0">
              <a:lnSpc>
                <a:spcPts val="2250"/>
              </a:lnSpc>
              <a:buNone/>
            </a:pPr>
            <a:r>
              <a:rPr lang="en-US" sz="1800" b="1" dirty="0">
                <a:solidFill>
                  <a:srgbClr val="233E32"/>
                </a:solidFill>
                <a:latin typeface="Alice" pitchFamily="34" charset="0"/>
                <a:ea typeface="Alice" pitchFamily="34" charset="-122"/>
                <a:cs typeface="Alice" pitchFamily="34" charset="-120"/>
              </a:rPr>
              <a:t>Conclusion</a:t>
            </a:r>
            <a:pPr algn="l" indent="0" marL="0">
              <a:lnSpc>
                <a:spcPts val="2250"/>
              </a:lnSpc>
              <a:buNone/>
            </a:pPr>
            <a:r>
              <a:rPr lang="en-US" sz="1800" dirty="0">
                <a:solidFill>
                  <a:srgbClr val="233E32"/>
                </a:solidFill>
                <a:latin typeface="Alice" pitchFamily="34" charset="0"/>
                <a:ea typeface="Alice" pitchFamily="34" charset="-122"/>
                <a:cs typeface="Alice" pitchFamily="34" charset="-120"/>
              </a:rPr>
              <a:t>:</a:t>
            </a:r>
            <a:endParaRPr lang="en-US" sz="1800" dirty="0"/>
          </a:p>
        </p:txBody>
      </p:sp>
      <p:sp>
        <p:nvSpPr>
          <p:cNvPr id="36" name="Text 34"/>
          <p:cNvSpPr/>
          <p:nvPr/>
        </p:nvSpPr>
        <p:spPr>
          <a:xfrm>
            <a:off x="539115" y="7072432"/>
            <a:ext cx="13552170" cy="739378"/>
          </a:xfrm>
          <a:prstGeom prst="rect">
            <a:avLst/>
          </a:prstGeom>
          <a:noFill/>
          <a:ln/>
        </p:spPr>
        <p:txBody>
          <a:bodyPr wrap="square" lIns="0" tIns="0" rIns="0" bIns="0" rtlCol="0" anchor="t"/>
          <a:lstStyle/>
          <a:p>
            <a:pPr algn="l" indent="0" marL="0">
              <a:lnSpc>
                <a:spcPts val="1900"/>
              </a:lnSpc>
              <a:buNone/>
            </a:pPr>
            <a:r>
              <a:rPr lang="en-US" sz="1200" b="1" dirty="0">
                <a:solidFill>
                  <a:srgbClr val="2C2821"/>
                </a:solidFill>
                <a:latin typeface="Lora" pitchFamily="34" charset="0"/>
                <a:ea typeface="Lora" pitchFamily="34" charset="-122"/>
                <a:cs typeface="Lora" pitchFamily="34" charset="-120"/>
              </a:rPr>
              <a:t>Rasa</a:t>
            </a:r>
            <a:pPr algn="l" indent="0" marL="0">
              <a:lnSpc>
                <a:spcPts val="1900"/>
              </a:lnSpc>
              <a:buNone/>
            </a:pPr>
            <a:r>
              <a:rPr lang="en-US" sz="1200" dirty="0">
                <a:solidFill>
                  <a:srgbClr val="2C2821"/>
                </a:solidFill>
                <a:latin typeface="Lora" pitchFamily="34" charset="0"/>
                <a:ea typeface="Lora" pitchFamily="34" charset="-122"/>
                <a:cs typeface="Lora" pitchFamily="34" charset="-120"/>
              </a:rPr>
              <a:t> is the best fit for your health chatbot project. It offers high flexibility, customization, and full control over model training, making it ideal for handling diverse user inputs and integrating with external APIs like GPT for schedule generation. Its robust NLU capabilities and open-source nature ensure scalability and cost-effectiveness. Rasa's seamless integration with your backend and ability to manage complex workflows make it the optimal choice for your project.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136571"/>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233E32"/>
                </a:solidFill>
                <a:latin typeface="Alice" pitchFamily="34" charset="0"/>
                <a:ea typeface="Alice" pitchFamily="34" charset="-122"/>
                <a:cs typeface="Alice" pitchFamily="34" charset="-120"/>
              </a:rPr>
              <a:t>Rasa Introduction</a:t>
            </a:r>
            <a:endParaRPr lang="en-US" sz="4450" dirty="0"/>
          </a:p>
        </p:txBody>
      </p:sp>
      <p:sp>
        <p:nvSpPr>
          <p:cNvPr id="3" name="Shape 1"/>
          <p:cNvSpPr/>
          <p:nvPr/>
        </p:nvSpPr>
        <p:spPr>
          <a:xfrm>
            <a:off x="793790" y="2298978"/>
            <a:ext cx="13042821" cy="4793933"/>
          </a:xfrm>
          <a:prstGeom prst="roundRect">
            <a:avLst>
              <a:gd name="adj" fmla="val 710"/>
            </a:avLst>
          </a:prstGeom>
          <a:noFill/>
          <a:ln w="7620">
            <a:solidFill>
              <a:srgbClr val="000000">
                <a:alpha val="8000"/>
              </a:srgbClr>
            </a:solidFill>
            <a:prstDash val="solid"/>
          </a:ln>
        </p:spPr>
      </p:sp>
      <p:sp>
        <p:nvSpPr>
          <p:cNvPr id="4" name="Shape 2"/>
          <p:cNvSpPr/>
          <p:nvPr/>
        </p:nvSpPr>
        <p:spPr>
          <a:xfrm>
            <a:off x="801410" y="2306598"/>
            <a:ext cx="13027581" cy="650319"/>
          </a:xfrm>
          <a:prstGeom prst="rect">
            <a:avLst/>
          </a:prstGeom>
          <a:solidFill>
            <a:srgbClr val="FFFFFF">
              <a:alpha val="4000"/>
            </a:srgbClr>
          </a:solidFill>
          <a:ln/>
        </p:spPr>
      </p:sp>
      <p:sp>
        <p:nvSpPr>
          <p:cNvPr id="5" name="Text 3"/>
          <p:cNvSpPr/>
          <p:nvPr/>
        </p:nvSpPr>
        <p:spPr>
          <a:xfrm>
            <a:off x="1028224" y="2450306"/>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B5F39"/>
                </a:solidFill>
                <a:latin typeface="Lora" pitchFamily="34" charset="0"/>
                <a:ea typeface="Lora" pitchFamily="34" charset="-122"/>
                <a:cs typeface="Lora" pitchFamily="34" charset="-120"/>
              </a:rPr>
              <a:t>Rasa NLU</a:t>
            </a:r>
            <a:endParaRPr lang="en-US" sz="1750" dirty="0"/>
          </a:p>
        </p:txBody>
      </p:sp>
      <p:sp>
        <p:nvSpPr>
          <p:cNvPr id="6" name="Text 4"/>
          <p:cNvSpPr/>
          <p:nvPr/>
        </p:nvSpPr>
        <p:spPr>
          <a:xfrm>
            <a:off x="7545824" y="2450306"/>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B5F39"/>
                </a:solidFill>
                <a:latin typeface="Lora" pitchFamily="34" charset="0"/>
                <a:ea typeface="Lora" pitchFamily="34" charset="-122"/>
                <a:cs typeface="Lora" pitchFamily="34" charset="-120"/>
              </a:rPr>
              <a:t>Rasa Core</a:t>
            </a:r>
            <a:endParaRPr lang="en-US" sz="1750" dirty="0"/>
          </a:p>
        </p:txBody>
      </p:sp>
      <p:sp>
        <p:nvSpPr>
          <p:cNvPr id="7" name="Shape 5"/>
          <p:cNvSpPr/>
          <p:nvPr/>
        </p:nvSpPr>
        <p:spPr>
          <a:xfrm>
            <a:off x="801410" y="2956917"/>
            <a:ext cx="13027581" cy="1739027"/>
          </a:xfrm>
          <a:prstGeom prst="rect">
            <a:avLst/>
          </a:prstGeom>
          <a:solidFill>
            <a:srgbClr val="000000">
              <a:alpha val="4000"/>
            </a:srgbClr>
          </a:solidFill>
          <a:ln/>
        </p:spPr>
      </p:sp>
      <p:sp>
        <p:nvSpPr>
          <p:cNvPr id="8" name="Text 6"/>
          <p:cNvSpPr/>
          <p:nvPr/>
        </p:nvSpPr>
        <p:spPr>
          <a:xfrm>
            <a:off x="1028224" y="3100626"/>
            <a:ext cx="6056352"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This component processes user messages, extracting intents (the user’s intention) and entities (specific pieces of information). It uses machine learning algorithms to understand natural language.</a:t>
            </a:r>
            <a:endParaRPr lang="en-US" sz="1750" dirty="0"/>
          </a:p>
        </p:txBody>
      </p:sp>
      <p:sp>
        <p:nvSpPr>
          <p:cNvPr id="9" name="Text 7"/>
          <p:cNvSpPr/>
          <p:nvPr/>
        </p:nvSpPr>
        <p:spPr>
          <a:xfrm>
            <a:off x="7545824" y="3100626"/>
            <a:ext cx="6056352"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Responsible for managing the dialogue flow, it decides how the chatbot should respond based on the current conversation context. It uses policies to predict the next action the bot should take.</a:t>
            </a:r>
            <a:endParaRPr lang="en-US" sz="1750" dirty="0"/>
          </a:p>
        </p:txBody>
      </p:sp>
      <p:sp>
        <p:nvSpPr>
          <p:cNvPr id="10" name="Shape 8"/>
          <p:cNvSpPr/>
          <p:nvPr/>
        </p:nvSpPr>
        <p:spPr>
          <a:xfrm>
            <a:off x="801410" y="4695944"/>
            <a:ext cx="13027581" cy="650319"/>
          </a:xfrm>
          <a:prstGeom prst="rect">
            <a:avLst/>
          </a:prstGeom>
          <a:solidFill>
            <a:srgbClr val="FFFFFF">
              <a:alpha val="4000"/>
            </a:srgbClr>
          </a:solidFill>
          <a:ln/>
        </p:spPr>
      </p:sp>
      <p:sp>
        <p:nvSpPr>
          <p:cNvPr id="11" name="Text 9"/>
          <p:cNvSpPr/>
          <p:nvPr/>
        </p:nvSpPr>
        <p:spPr>
          <a:xfrm>
            <a:off x="1028224" y="4839653"/>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B5F39"/>
                </a:solidFill>
                <a:latin typeface="Lora" pitchFamily="34" charset="0"/>
                <a:ea typeface="Lora" pitchFamily="34" charset="-122"/>
                <a:cs typeface="Lora" pitchFamily="34" charset="-120"/>
              </a:rPr>
              <a:t>Rasa SDK</a:t>
            </a:r>
            <a:endParaRPr lang="en-US" sz="1750" dirty="0"/>
          </a:p>
        </p:txBody>
      </p:sp>
      <p:sp>
        <p:nvSpPr>
          <p:cNvPr id="12" name="Text 10"/>
          <p:cNvSpPr/>
          <p:nvPr/>
        </p:nvSpPr>
        <p:spPr>
          <a:xfrm>
            <a:off x="7545824" y="4839653"/>
            <a:ext cx="6056352" cy="362903"/>
          </a:xfrm>
          <a:prstGeom prst="rect">
            <a:avLst/>
          </a:prstGeom>
          <a:noFill/>
          <a:ln/>
        </p:spPr>
        <p:txBody>
          <a:bodyPr wrap="none" lIns="0" tIns="0" rIns="0" bIns="0" rtlCol="0" anchor="t"/>
          <a:lstStyle/>
          <a:p>
            <a:pPr algn="l" indent="0" marL="0">
              <a:lnSpc>
                <a:spcPts val="2850"/>
              </a:lnSpc>
              <a:buNone/>
            </a:pPr>
            <a:r>
              <a:rPr lang="en-US" sz="1750" b="1" dirty="0">
                <a:solidFill>
                  <a:srgbClr val="1B5F39"/>
                </a:solidFill>
                <a:latin typeface="Lora" pitchFamily="34" charset="0"/>
                <a:ea typeface="Lora" pitchFamily="34" charset="-122"/>
                <a:cs typeface="Lora" pitchFamily="34" charset="-120"/>
              </a:rPr>
              <a:t>Rasa X</a:t>
            </a:r>
            <a:endParaRPr lang="en-US" sz="1750" dirty="0"/>
          </a:p>
        </p:txBody>
      </p:sp>
      <p:sp>
        <p:nvSpPr>
          <p:cNvPr id="13" name="Shape 11"/>
          <p:cNvSpPr/>
          <p:nvPr/>
        </p:nvSpPr>
        <p:spPr>
          <a:xfrm>
            <a:off x="801410" y="5346263"/>
            <a:ext cx="13027581" cy="1739027"/>
          </a:xfrm>
          <a:prstGeom prst="rect">
            <a:avLst/>
          </a:prstGeom>
          <a:solidFill>
            <a:srgbClr val="000000">
              <a:alpha val="4000"/>
            </a:srgbClr>
          </a:solidFill>
          <a:ln/>
        </p:spPr>
      </p:sp>
      <p:sp>
        <p:nvSpPr>
          <p:cNvPr id="14" name="Text 12"/>
          <p:cNvSpPr/>
          <p:nvPr/>
        </p:nvSpPr>
        <p:spPr>
          <a:xfrm>
            <a:off x="1028224" y="5489972"/>
            <a:ext cx="6056352"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Allows customization of actions performed by the chatbot. Actions can include querying databases, calling APIs, or performing any other task required to fulfil user requests.</a:t>
            </a:r>
            <a:endParaRPr lang="en-US" sz="1750" dirty="0"/>
          </a:p>
        </p:txBody>
      </p:sp>
      <p:sp>
        <p:nvSpPr>
          <p:cNvPr id="15" name="Text 13"/>
          <p:cNvSpPr/>
          <p:nvPr/>
        </p:nvSpPr>
        <p:spPr>
          <a:xfrm>
            <a:off x="7545824" y="5489972"/>
            <a:ext cx="6056352"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An interface for developers to improve and manage their chatbots. It facilitates data annotation, model training, and conversation exploration.</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299686"/>
            <a:ext cx="3842861" cy="425291"/>
          </a:xfrm>
          <a:prstGeom prst="rect">
            <a:avLst/>
          </a:prstGeom>
          <a:noFill/>
          <a:ln/>
        </p:spPr>
        <p:txBody>
          <a:bodyPr wrap="none" lIns="0" tIns="0" rIns="0" bIns="0" rtlCol="0" anchor="t"/>
          <a:lstStyle/>
          <a:p>
            <a:pPr algn="l" indent="0" marL="0">
              <a:lnSpc>
                <a:spcPts val="3300"/>
              </a:lnSpc>
              <a:buNone/>
            </a:pPr>
            <a:r>
              <a:rPr lang="en-US" sz="2650" b="1" dirty="0">
                <a:solidFill>
                  <a:srgbClr val="233E32"/>
                </a:solidFill>
                <a:latin typeface="Alice" pitchFamily="34" charset="0"/>
                <a:ea typeface="Alice" pitchFamily="34" charset="-122"/>
                <a:cs typeface="Alice" pitchFamily="34" charset="-120"/>
              </a:rPr>
              <a:t>Steps to implement Rasa</a:t>
            </a:r>
            <a:pPr algn="l" indent="0" marL="0">
              <a:lnSpc>
                <a:spcPts val="3300"/>
              </a:lnSpc>
              <a:buNone/>
            </a:pPr>
            <a:r>
              <a:rPr lang="en-US" sz="2650" dirty="0">
                <a:solidFill>
                  <a:srgbClr val="233E32"/>
                </a:solidFill>
                <a:latin typeface="Alice" pitchFamily="34" charset="0"/>
                <a:ea typeface="Alice" pitchFamily="34" charset="-122"/>
                <a:cs typeface="Alice" pitchFamily="34" charset="-120"/>
              </a:rPr>
              <a:t>:</a:t>
            </a:r>
            <a:endParaRPr lang="en-US" sz="2650" dirty="0"/>
          </a:p>
        </p:txBody>
      </p:sp>
      <p:sp>
        <p:nvSpPr>
          <p:cNvPr id="3" name="Text 1"/>
          <p:cNvSpPr/>
          <p:nvPr/>
        </p:nvSpPr>
        <p:spPr>
          <a:xfrm>
            <a:off x="793790" y="2178606"/>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B5F39"/>
                </a:solidFill>
                <a:latin typeface="Lora" pitchFamily="34" charset="0"/>
                <a:ea typeface="Lora" pitchFamily="34" charset="-122"/>
                <a:cs typeface="Lora" pitchFamily="34" charset="-120"/>
              </a:rPr>
              <a:t>Setup</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Install Rasa and initialize a new project using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rasa init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a:t>
            </a:r>
            <a:endParaRPr lang="en-US" sz="1750" dirty="0"/>
          </a:p>
        </p:txBody>
      </p:sp>
      <p:sp>
        <p:nvSpPr>
          <p:cNvPr id="4" name="Text 2"/>
          <p:cNvSpPr/>
          <p:nvPr/>
        </p:nvSpPr>
        <p:spPr>
          <a:xfrm>
            <a:off x="793790" y="2628424"/>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B5F39"/>
                </a:solidFill>
                <a:latin typeface="Lora" pitchFamily="34" charset="0"/>
                <a:ea typeface="Lora" pitchFamily="34" charset="-122"/>
                <a:cs typeface="Lora" pitchFamily="34" charset="-120"/>
              </a:rPr>
              <a:t>Prepare Dataset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a:t>
            </a:r>
            <a:endParaRPr lang="en-US" sz="1750" dirty="0"/>
          </a:p>
        </p:txBody>
      </p:sp>
      <p:sp>
        <p:nvSpPr>
          <p:cNvPr id="5" name="Text 3"/>
          <p:cNvSpPr/>
          <p:nvPr/>
        </p:nvSpPr>
        <p:spPr>
          <a:xfrm>
            <a:off x="793790" y="3070622"/>
            <a:ext cx="13042821" cy="362903"/>
          </a:xfrm>
          <a:prstGeom prst="rect">
            <a:avLst/>
          </a:prstGeom>
          <a:noFill/>
          <a:ln/>
        </p:spPr>
        <p:txBody>
          <a:bodyPr wrap="none" lIns="0" tIns="0" rIns="0" bIns="0" rtlCol="0" anchor="t"/>
          <a:lstStyle/>
          <a:p>
            <a:pPr algn="l" lvl="1" marL="6858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Convert your tabular dataset into YAML format with intents, entities, and actions.</a:t>
            </a:r>
            <a:endParaRPr lang="en-US" sz="1750" dirty="0"/>
          </a:p>
        </p:txBody>
      </p:sp>
      <p:sp>
        <p:nvSpPr>
          <p:cNvPr id="6" name="Text 4"/>
          <p:cNvSpPr/>
          <p:nvPr/>
        </p:nvSpPr>
        <p:spPr>
          <a:xfrm>
            <a:off x="793790" y="3512820"/>
            <a:ext cx="13042821" cy="370523"/>
          </a:xfrm>
          <a:prstGeom prst="rect">
            <a:avLst/>
          </a:prstGeom>
          <a:noFill/>
          <a:ln/>
        </p:spPr>
        <p:txBody>
          <a:bodyPr wrap="none" lIns="0" tIns="0" rIns="0" bIns="0" rtlCol="0" anchor="t"/>
          <a:lstStyle/>
          <a:p>
            <a:pPr algn="l" lvl="1" marL="6858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Define intents such as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health_issue_query</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schedule_creation</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etc., in the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nlu.yml</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file.</a:t>
            </a:r>
            <a:endParaRPr lang="en-US" sz="1750" dirty="0"/>
          </a:p>
        </p:txBody>
      </p:sp>
      <p:sp>
        <p:nvSpPr>
          <p:cNvPr id="7" name="Text 5"/>
          <p:cNvSpPr/>
          <p:nvPr/>
        </p:nvSpPr>
        <p:spPr>
          <a:xfrm>
            <a:off x="793790" y="3962638"/>
            <a:ext cx="13042821" cy="725805"/>
          </a:xfrm>
          <a:prstGeom prst="rect">
            <a:avLst/>
          </a:prstGeom>
          <a:noFill/>
          <a:ln/>
        </p:spPr>
        <p:txBody>
          <a:bodyPr wrap="square" lIns="0" tIns="0" rIns="0" bIns="0" rtlCol="0" anchor="t"/>
          <a:lstStyle/>
          <a:p>
            <a:pPr algn="l" lvl="1" marL="6858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Rasa uses the DIET (Dual Intent and Entity Transformer) model by default for intent classification and entity recognition.</a:t>
            </a:r>
            <a:endParaRPr lang="en-US" sz="1750" dirty="0"/>
          </a:p>
        </p:txBody>
      </p:sp>
      <p:sp>
        <p:nvSpPr>
          <p:cNvPr id="8" name="Text 6"/>
          <p:cNvSpPr/>
          <p:nvPr/>
        </p:nvSpPr>
        <p:spPr>
          <a:xfrm>
            <a:off x="793790" y="4767739"/>
            <a:ext cx="13042821" cy="362903"/>
          </a:xfrm>
          <a:prstGeom prst="rect">
            <a:avLst/>
          </a:prstGeom>
          <a:noFill/>
          <a:ln/>
        </p:spPr>
        <p:txBody>
          <a:bodyPr wrap="none" lIns="0" tIns="0" rIns="0" bIns="0" rtlCol="0" anchor="t"/>
          <a:lstStyle/>
          <a:p>
            <a:pPr algn="l" lvl="1" marL="6858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The DIET model predicts the most likely intent based on training data.</a:t>
            </a:r>
            <a:endParaRPr lang="en-US" sz="1750" dirty="0"/>
          </a:p>
        </p:txBody>
      </p:sp>
      <p:sp>
        <p:nvSpPr>
          <p:cNvPr id="9" name="Text 7"/>
          <p:cNvSpPr/>
          <p:nvPr/>
        </p:nvSpPr>
        <p:spPr>
          <a:xfrm>
            <a:off x="793790" y="5209937"/>
            <a:ext cx="13042821" cy="370523"/>
          </a:xfrm>
          <a:prstGeom prst="rect">
            <a:avLst/>
          </a:prstGeom>
          <a:noFill/>
          <a:ln/>
        </p:spPr>
        <p:txBody>
          <a:bodyPr wrap="none" lIns="0" tIns="0" rIns="0" bIns="0" rtlCol="0" anchor="t"/>
          <a:lstStyle/>
          <a:p>
            <a:pPr algn="l" lvl="1" marL="6858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Use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stories.yml</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to define conversation paths based on user inputs and bot responses.</a:t>
            </a:r>
            <a:endParaRPr lang="en-US" sz="1750" dirty="0"/>
          </a:p>
        </p:txBody>
      </p:sp>
      <p:sp>
        <p:nvSpPr>
          <p:cNvPr id="10" name="Text 8"/>
          <p:cNvSpPr/>
          <p:nvPr/>
        </p:nvSpPr>
        <p:spPr>
          <a:xfrm>
            <a:off x="793790" y="5659755"/>
            <a:ext cx="13042821" cy="370523"/>
          </a:xfrm>
          <a:prstGeom prst="rect">
            <a:avLst/>
          </a:prstGeom>
          <a:noFill/>
          <a:ln/>
        </p:spPr>
        <p:txBody>
          <a:bodyPr wrap="none" lIns="0" tIns="0" rIns="0" bIns="0" rtlCol="0" anchor="t"/>
          <a:lstStyle/>
          <a:p>
            <a:pPr algn="l" lvl="1" marL="6858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Add custom actions in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actions.py</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to send notifications, request additional details, or interact with external APIs.</a:t>
            </a:r>
            <a:endParaRPr lang="en-US" sz="1750" dirty="0"/>
          </a:p>
        </p:txBody>
      </p:sp>
      <p:sp>
        <p:nvSpPr>
          <p:cNvPr id="11" name="Text 9"/>
          <p:cNvSpPr/>
          <p:nvPr/>
        </p:nvSpPr>
        <p:spPr>
          <a:xfrm>
            <a:off x="793790" y="6109573"/>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B5F39"/>
                </a:solidFill>
                <a:latin typeface="Lora" pitchFamily="34" charset="0"/>
                <a:ea typeface="Lora" pitchFamily="34" charset="-122"/>
                <a:cs typeface="Lora" pitchFamily="34" charset="-120"/>
              </a:rPr>
              <a:t>Train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Train the bot using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rasa train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This generates a model capable of intent recognition and response generation.</a:t>
            </a:r>
            <a:endParaRPr lang="en-US" sz="1750" dirty="0"/>
          </a:p>
        </p:txBody>
      </p:sp>
      <p:sp>
        <p:nvSpPr>
          <p:cNvPr id="12" name="Text 10"/>
          <p:cNvSpPr/>
          <p:nvPr/>
        </p:nvSpPr>
        <p:spPr>
          <a:xfrm>
            <a:off x="793790" y="6559391"/>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B5F39"/>
                </a:solidFill>
                <a:latin typeface="Lora" pitchFamily="34" charset="0"/>
                <a:ea typeface="Lora" pitchFamily="34" charset="-122"/>
                <a:cs typeface="Lora" pitchFamily="34" charset="-120"/>
              </a:rPr>
              <a:t>Test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Use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rasa shell</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or an HTTP API to test your bot.</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704499"/>
            <a:ext cx="10292358"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Working  of  Rasa - DIET Classifier Model</a:t>
            </a:r>
            <a:endParaRPr lang="en-US" sz="4450" dirty="0"/>
          </a:p>
        </p:txBody>
      </p:sp>
      <p:sp>
        <p:nvSpPr>
          <p:cNvPr id="3" name="Text 1"/>
          <p:cNvSpPr/>
          <p:nvPr/>
        </p:nvSpPr>
        <p:spPr>
          <a:xfrm>
            <a:off x="793790" y="2753439"/>
            <a:ext cx="2954179" cy="354330"/>
          </a:xfrm>
          <a:prstGeom prst="rect">
            <a:avLst/>
          </a:prstGeom>
          <a:noFill/>
          <a:ln/>
        </p:spPr>
        <p:txBody>
          <a:bodyPr wrap="none" lIns="0" tIns="0" rIns="0" bIns="0" rtlCol="0" anchor="t"/>
          <a:lstStyle/>
          <a:p>
            <a:pPr algn="l" indent="0" marL="0">
              <a:lnSpc>
                <a:spcPts val="2750"/>
              </a:lnSpc>
              <a:buNone/>
            </a:pPr>
            <a:r>
              <a:rPr lang="en-US" sz="2200" b="1" dirty="0">
                <a:solidFill>
                  <a:srgbClr val="233E32"/>
                </a:solidFill>
                <a:latin typeface="Alice" pitchFamily="34" charset="0"/>
                <a:ea typeface="Alice" pitchFamily="34" charset="-122"/>
                <a:cs typeface="Alice" pitchFamily="34" charset="-120"/>
              </a:rPr>
              <a:t>Step 1: Text Embedding</a:t>
            </a:r>
            <a:endParaRPr lang="en-US" sz="2200" dirty="0"/>
          </a:p>
        </p:txBody>
      </p:sp>
      <p:sp>
        <p:nvSpPr>
          <p:cNvPr id="4" name="Text 2"/>
          <p:cNvSpPr/>
          <p:nvPr/>
        </p:nvSpPr>
        <p:spPr>
          <a:xfrm>
            <a:off x="793790" y="3447931"/>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User Input: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User sends a message like </a:t>
            </a:r>
            <a:pPr algn="l" indent="0" marL="0">
              <a:lnSpc>
                <a:spcPts val="2850"/>
              </a:lnSpc>
              <a:buNone/>
            </a:pPr>
            <a:r>
              <a:rPr lang="en-US" sz="1750" i="1" dirty="0">
                <a:solidFill>
                  <a:srgbClr val="2C2821"/>
                </a:solidFill>
                <a:latin typeface="Lora" pitchFamily="34" charset="0"/>
                <a:ea typeface="Lora" pitchFamily="34" charset="-122"/>
                <a:cs typeface="Lora" pitchFamily="34" charset="-120"/>
              </a:rPr>
              <a:t>"I have a headache and fever."</a:t>
            </a:r>
            <a:endParaRPr lang="en-US" sz="1750" dirty="0"/>
          </a:p>
        </p:txBody>
      </p:sp>
      <p:sp>
        <p:nvSpPr>
          <p:cNvPr id="5" name="Text 3"/>
          <p:cNvSpPr/>
          <p:nvPr/>
        </p:nvSpPr>
        <p:spPr>
          <a:xfrm>
            <a:off x="793790" y="3890129"/>
            <a:ext cx="13042821" cy="109632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Tokenization: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The sentence is broken down into individual tokens (words):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"I"</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"have"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"a"</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"headache"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"and"</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"fever"</a:t>
            </a:r>
            <a:endParaRPr lang="en-US" sz="1750" dirty="0"/>
          </a:p>
        </p:txBody>
      </p:sp>
      <p:sp>
        <p:nvSpPr>
          <p:cNvPr id="6" name="Text 4"/>
          <p:cNvSpPr/>
          <p:nvPr/>
        </p:nvSpPr>
        <p:spPr>
          <a:xfrm>
            <a:off x="793790" y="5065752"/>
            <a:ext cx="13042821" cy="1459230"/>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Embedding Conversion: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Each token is converted into a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numerical vector</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(embedding) that captures its semantic meaning.</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Example: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"fever"</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[0.6, 0.2, ..., 0.9]</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32686" y="418505"/>
            <a:ext cx="5401389" cy="285393"/>
          </a:xfrm>
          <a:prstGeom prst="rect">
            <a:avLst/>
          </a:prstGeom>
          <a:noFill/>
          <a:ln/>
        </p:spPr>
        <p:txBody>
          <a:bodyPr wrap="none" lIns="0" tIns="0" rIns="0" bIns="0" rtlCol="0" anchor="t"/>
          <a:lstStyle/>
          <a:p>
            <a:pPr algn="l" indent="0" marL="0">
              <a:lnSpc>
                <a:spcPts val="2200"/>
              </a:lnSpc>
              <a:buNone/>
            </a:pPr>
            <a:r>
              <a:rPr lang="en-US" sz="1750" b="1" dirty="0">
                <a:solidFill>
                  <a:srgbClr val="233E32"/>
                </a:solidFill>
                <a:latin typeface="Alice" pitchFamily="34" charset="0"/>
                <a:ea typeface="Alice" pitchFamily="34" charset="-122"/>
                <a:cs typeface="Alice" pitchFamily="34" charset="-120"/>
              </a:rPr>
              <a:t>Step 2: Contextual Understanding Using Transformer</a:t>
            </a:r>
            <a:endParaRPr lang="en-US" sz="1750" dirty="0"/>
          </a:p>
        </p:txBody>
      </p:sp>
      <p:sp>
        <p:nvSpPr>
          <p:cNvPr id="3" name="Text 1"/>
          <p:cNvSpPr/>
          <p:nvPr/>
        </p:nvSpPr>
        <p:spPr>
          <a:xfrm>
            <a:off x="532686" y="1008340"/>
            <a:ext cx="13565029" cy="487204"/>
          </a:xfrm>
          <a:prstGeom prst="rect">
            <a:avLst/>
          </a:prstGeom>
          <a:noFill/>
          <a:ln/>
        </p:spPr>
        <p:txBody>
          <a:bodyPr wrap="square" lIns="0" tIns="0" rIns="0" bIns="0" rtlCol="0" anchor="t"/>
          <a:lstStyle/>
          <a:p>
            <a:pPr algn="l" marL="342900" indent="-342900">
              <a:lnSpc>
                <a:spcPts val="1900"/>
              </a:lnSpc>
              <a:buSzPct val="100000"/>
              <a:buChar char="•"/>
            </a:pPr>
            <a:r>
              <a:rPr lang="en-US" sz="1150" b="1" dirty="0">
                <a:solidFill>
                  <a:srgbClr val="2C2821"/>
                </a:solidFill>
                <a:latin typeface="Lora" pitchFamily="34" charset="0"/>
                <a:ea typeface="Lora" pitchFamily="34" charset="-122"/>
                <a:cs typeface="Lora" pitchFamily="34" charset="-120"/>
              </a:rPr>
              <a:t>Input to Transformer:</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The word embeddings from Step 1 are passed into a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Transformer model</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used by the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DIET classifier</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a:t>
            </a:r>
            <a:endParaRPr lang="en-US" sz="1150" dirty="0"/>
          </a:p>
        </p:txBody>
      </p:sp>
      <p:sp>
        <p:nvSpPr>
          <p:cNvPr id="4" name="Text 2"/>
          <p:cNvSpPr/>
          <p:nvPr/>
        </p:nvSpPr>
        <p:spPr>
          <a:xfrm>
            <a:off x="532686" y="1548765"/>
            <a:ext cx="13565029" cy="487204"/>
          </a:xfrm>
          <a:prstGeom prst="rect">
            <a:avLst/>
          </a:prstGeom>
          <a:noFill/>
          <a:ln/>
        </p:spPr>
        <p:txBody>
          <a:bodyPr wrap="square" lIns="0" tIns="0" rIns="0" bIns="0" rtlCol="0" anchor="t"/>
          <a:lstStyle/>
          <a:p>
            <a:pPr algn="l" marL="342900" indent="-342900">
              <a:lnSpc>
                <a:spcPts val="1900"/>
              </a:lnSpc>
              <a:buSzPct val="100000"/>
              <a:buChar char="•"/>
            </a:pPr>
            <a:r>
              <a:rPr lang="en-US" sz="1150" b="1" dirty="0">
                <a:solidFill>
                  <a:srgbClr val="2C2821"/>
                </a:solidFill>
                <a:latin typeface="Lora" pitchFamily="34" charset="0"/>
                <a:ea typeface="Lora" pitchFamily="34" charset="-122"/>
                <a:cs typeface="Lora" pitchFamily="34" charset="-120"/>
              </a:rPr>
              <a:t>Self-Attention Mechanism:</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The Transformer applies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self-attention</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to understand the relationship between words in the sentence.</a:t>
            </a:r>
            <a:endParaRPr lang="en-US" sz="1150" dirty="0"/>
          </a:p>
        </p:txBody>
      </p:sp>
      <p:sp>
        <p:nvSpPr>
          <p:cNvPr id="5" name="Text 3"/>
          <p:cNvSpPr/>
          <p:nvPr/>
        </p:nvSpPr>
        <p:spPr>
          <a:xfrm>
            <a:off x="532686" y="2089190"/>
            <a:ext cx="13565029"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2C2821"/>
                </a:solidFill>
                <a:latin typeface="Lora" pitchFamily="34" charset="0"/>
                <a:ea typeface="Lora" pitchFamily="34" charset="-122"/>
                <a:cs typeface="Lora" pitchFamily="34" charset="-120"/>
              </a:rPr>
              <a:t>We’ll compute the attention score between two tokens using this formula:</a:t>
            </a:r>
            <a:endParaRPr lang="en-US" sz="1150" dirty="0"/>
          </a:p>
        </p:txBody>
      </p:sp>
      <p:sp>
        <p:nvSpPr>
          <p:cNvPr id="6" name="Text 4"/>
          <p:cNvSpPr/>
          <p:nvPr/>
        </p:nvSpPr>
        <p:spPr>
          <a:xfrm>
            <a:off x="532686" y="2504003"/>
            <a:ext cx="13565029"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              Attention(Q,K,V)=softmax(QK^T/dk^(1/2))⋅V</a:t>
            </a:r>
            <a:endParaRPr lang="en-US" sz="1150" dirty="0"/>
          </a:p>
        </p:txBody>
      </p:sp>
      <p:sp>
        <p:nvSpPr>
          <p:cNvPr id="7" name="Text 5"/>
          <p:cNvSpPr/>
          <p:nvPr/>
        </p:nvSpPr>
        <p:spPr>
          <a:xfrm>
            <a:off x="532686" y="2918817"/>
            <a:ext cx="13565029"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 Let’s keep it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simple</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with just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2 tokens</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and a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small dimension size</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dk=2.</a:t>
            </a:r>
            <a:endParaRPr lang="en-US" sz="1150" dirty="0"/>
          </a:p>
        </p:txBody>
      </p:sp>
      <p:sp>
        <p:nvSpPr>
          <p:cNvPr id="8" name="Text 6"/>
          <p:cNvSpPr/>
          <p:nvPr/>
        </p:nvSpPr>
        <p:spPr>
          <a:xfrm>
            <a:off x="532686" y="3333631"/>
            <a:ext cx="13565029"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Sample Input:</a:t>
            </a:r>
            <a:endParaRPr lang="en-US" sz="1150" dirty="0"/>
          </a:p>
        </p:txBody>
      </p:sp>
      <p:sp>
        <p:nvSpPr>
          <p:cNvPr id="9" name="Text 7"/>
          <p:cNvSpPr/>
          <p:nvPr/>
        </p:nvSpPr>
        <p:spPr>
          <a:xfrm>
            <a:off x="532686" y="3748445"/>
            <a:ext cx="13565029"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We define the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Query (Q)</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Key (K)</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and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Value (V)</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vectors for two tokens (Assuming "Have" and "Headache" as two tokens):</a:t>
            </a:r>
            <a:endParaRPr lang="en-US" sz="1150" dirty="0"/>
          </a:p>
        </p:txBody>
      </p:sp>
      <p:sp>
        <p:nvSpPr>
          <p:cNvPr id="10" name="Shape 8"/>
          <p:cNvSpPr/>
          <p:nvPr/>
        </p:nvSpPr>
        <p:spPr>
          <a:xfrm>
            <a:off x="532686" y="4163258"/>
            <a:ext cx="13565029" cy="1339691"/>
          </a:xfrm>
          <a:prstGeom prst="roundRect">
            <a:avLst>
              <a:gd name="adj" fmla="val 1704"/>
            </a:avLst>
          </a:prstGeom>
          <a:noFill/>
          <a:ln w="7620">
            <a:solidFill>
              <a:srgbClr val="000000">
                <a:alpha val="8000"/>
              </a:srgbClr>
            </a:solidFill>
            <a:prstDash val="solid"/>
          </a:ln>
        </p:spPr>
      </p:sp>
      <p:sp>
        <p:nvSpPr>
          <p:cNvPr id="11" name="Shape 9"/>
          <p:cNvSpPr/>
          <p:nvPr/>
        </p:nvSpPr>
        <p:spPr>
          <a:xfrm>
            <a:off x="540306" y="4170878"/>
            <a:ext cx="13549789" cy="441484"/>
          </a:xfrm>
          <a:prstGeom prst="rect">
            <a:avLst/>
          </a:prstGeom>
          <a:solidFill>
            <a:srgbClr val="FFFFFF">
              <a:alpha val="4000"/>
            </a:srgbClr>
          </a:solidFill>
          <a:ln/>
        </p:spPr>
      </p:sp>
      <p:sp>
        <p:nvSpPr>
          <p:cNvPr id="12" name="Text 10"/>
          <p:cNvSpPr/>
          <p:nvPr/>
        </p:nvSpPr>
        <p:spPr>
          <a:xfrm>
            <a:off x="692468" y="4269819"/>
            <a:ext cx="307931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Token</a:t>
            </a:r>
            <a:endParaRPr lang="en-US" sz="1150" dirty="0"/>
          </a:p>
        </p:txBody>
      </p:sp>
      <p:sp>
        <p:nvSpPr>
          <p:cNvPr id="13" name="Text 11"/>
          <p:cNvSpPr/>
          <p:nvPr/>
        </p:nvSpPr>
        <p:spPr>
          <a:xfrm>
            <a:off x="4083725" y="4269819"/>
            <a:ext cx="307550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Q (Query)</a:t>
            </a:r>
            <a:endParaRPr lang="en-US" sz="1150" dirty="0"/>
          </a:p>
        </p:txBody>
      </p:sp>
      <p:sp>
        <p:nvSpPr>
          <p:cNvPr id="14" name="Text 12"/>
          <p:cNvSpPr/>
          <p:nvPr/>
        </p:nvSpPr>
        <p:spPr>
          <a:xfrm>
            <a:off x="7471172" y="4269819"/>
            <a:ext cx="307550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K (Key)</a:t>
            </a:r>
            <a:endParaRPr lang="en-US" sz="1150" dirty="0"/>
          </a:p>
        </p:txBody>
      </p:sp>
      <p:sp>
        <p:nvSpPr>
          <p:cNvPr id="15" name="Text 13"/>
          <p:cNvSpPr/>
          <p:nvPr/>
        </p:nvSpPr>
        <p:spPr>
          <a:xfrm>
            <a:off x="10858619" y="4269819"/>
            <a:ext cx="307931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V (Value)</a:t>
            </a:r>
            <a:endParaRPr lang="en-US" sz="1150" dirty="0"/>
          </a:p>
        </p:txBody>
      </p:sp>
      <p:sp>
        <p:nvSpPr>
          <p:cNvPr id="16" name="Shape 14"/>
          <p:cNvSpPr/>
          <p:nvPr/>
        </p:nvSpPr>
        <p:spPr>
          <a:xfrm>
            <a:off x="540306" y="4612362"/>
            <a:ext cx="13549789" cy="441484"/>
          </a:xfrm>
          <a:prstGeom prst="rect">
            <a:avLst/>
          </a:prstGeom>
          <a:solidFill>
            <a:srgbClr val="000000">
              <a:alpha val="4000"/>
            </a:srgbClr>
          </a:solidFill>
          <a:ln/>
        </p:spPr>
      </p:sp>
      <p:sp>
        <p:nvSpPr>
          <p:cNvPr id="17" name="Text 15"/>
          <p:cNvSpPr/>
          <p:nvPr/>
        </p:nvSpPr>
        <p:spPr>
          <a:xfrm>
            <a:off x="692468" y="4711303"/>
            <a:ext cx="307931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Token 1</a:t>
            </a:r>
            <a:endParaRPr lang="en-US" sz="1150" dirty="0"/>
          </a:p>
        </p:txBody>
      </p:sp>
      <p:sp>
        <p:nvSpPr>
          <p:cNvPr id="18" name="Text 16"/>
          <p:cNvSpPr/>
          <p:nvPr/>
        </p:nvSpPr>
        <p:spPr>
          <a:xfrm>
            <a:off x="4083725" y="4711303"/>
            <a:ext cx="307550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[1, 0]</a:t>
            </a:r>
            <a:endParaRPr lang="en-US" sz="1150" dirty="0"/>
          </a:p>
        </p:txBody>
      </p:sp>
      <p:sp>
        <p:nvSpPr>
          <p:cNvPr id="19" name="Text 17"/>
          <p:cNvSpPr/>
          <p:nvPr/>
        </p:nvSpPr>
        <p:spPr>
          <a:xfrm>
            <a:off x="7471172" y="4711303"/>
            <a:ext cx="307550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[1, 0]</a:t>
            </a:r>
            <a:endParaRPr lang="en-US" sz="1150" dirty="0"/>
          </a:p>
        </p:txBody>
      </p:sp>
      <p:sp>
        <p:nvSpPr>
          <p:cNvPr id="20" name="Text 18"/>
          <p:cNvSpPr/>
          <p:nvPr/>
        </p:nvSpPr>
        <p:spPr>
          <a:xfrm>
            <a:off x="10858619" y="4711303"/>
            <a:ext cx="307931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[0.5, 1.0]</a:t>
            </a:r>
            <a:endParaRPr lang="en-US" sz="1150" dirty="0"/>
          </a:p>
        </p:txBody>
      </p:sp>
      <p:sp>
        <p:nvSpPr>
          <p:cNvPr id="21" name="Shape 19"/>
          <p:cNvSpPr/>
          <p:nvPr/>
        </p:nvSpPr>
        <p:spPr>
          <a:xfrm>
            <a:off x="540306" y="5053846"/>
            <a:ext cx="13549789" cy="441484"/>
          </a:xfrm>
          <a:prstGeom prst="rect">
            <a:avLst/>
          </a:prstGeom>
          <a:solidFill>
            <a:srgbClr val="FFFFFF">
              <a:alpha val="4000"/>
            </a:srgbClr>
          </a:solidFill>
          <a:ln/>
        </p:spPr>
      </p:sp>
      <p:sp>
        <p:nvSpPr>
          <p:cNvPr id="22" name="Text 20"/>
          <p:cNvSpPr/>
          <p:nvPr/>
        </p:nvSpPr>
        <p:spPr>
          <a:xfrm>
            <a:off x="692468" y="5152787"/>
            <a:ext cx="307931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Token 2</a:t>
            </a:r>
            <a:endParaRPr lang="en-US" sz="1150" dirty="0"/>
          </a:p>
        </p:txBody>
      </p:sp>
      <p:sp>
        <p:nvSpPr>
          <p:cNvPr id="23" name="Text 21"/>
          <p:cNvSpPr/>
          <p:nvPr/>
        </p:nvSpPr>
        <p:spPr>
          <a:xfrm>
            <a:off x="4083725" y="5152787"/>
            <a:ext cx="307550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[0, 1]</a:t>
            </a:r>
            <a:endParaRPr lang="en-US" sz="1150" dirty="0"/>
          </a:p>
        </p:txBody>
      </p:sp>
      <p:sp>
        <p:nvSpPr>
          <p:cNvPr id="24" name="Text 22"/>
          <p:cNvSpPr/>
          <p:nvPr/>
        </p:nvSpPr>
        <p:spPr>
          <a:xfrm>
            <a:off x="7471172" y="5152787"/>
            <a:ext cx="307550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[0, 1]</a:t>
            </a:r>
            <a:endParaRPr lang="en-US" sz="1150" dirty="0"/>
          </a:p>
        </p:txBody>
      </p:sp>
      <p:sp>
        <p:nvSpPr>
          <p:cNvPr id="25" name="Text 23"/>
          <p:cNvSpPr/>
          <p:nvPr/>
        </p:nvSpPr>
        <p:spPr>
          <a:xfrm>
            <a:off x="10858619" y="5152787"/>
            <a:ext cx="3079313"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[1.5, 0.5]</a:t>
            </a:r>
            <a:endParaRPr lang="en-US" sz="1150" dirty="0"/>
          </a:p>
        </p:txBody>
      </p:sp>
      <p:sp>
        <p:nvSpPr>
          <p:cNvPr id="26" name="Text 24"/>
          <p:cNvSpPr/>
          <p:nvPr/>
        </p:nvSpPr>
        <p:spPr>
          <a:xfrm>
            <a:off x="532686" y="5674162"/>
            <a:ext cx="13565029"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 1. Compute Dot Product Q .K^T</a:t>
            </a:r>
            <a:endParaRPr lang="en-US" sz="1150" dirty="0"/>
          </a:p>
        </p:txBody>
      </p:sp>
      <p:sp>
        <p:nvSpPr>
          <p:cNvPr id="27" name="Text 25"/>
          <p:cNvSpPr/>
          <p:nvPr/>
        </p:nvSpPr>
        <p:spPr>
          <a:xfrm>
            <a:off x="532686" y="6088975"/>
            <a:ext cx="13565029"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We compute the dot product between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Token 1’s Query</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and all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Keys</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a:t>
            </a:r>
            <a:endParaRPr lang="en-US" sz="1150" dirty="0"/>
          </a:p>
        </p:txBody>
      </p:sp>
      <p:sp>
        <p:nvSpPr>
          <p:cNvPr id="28" name="Text 26"/>
          <p:cNvSpPr/>
          <p:nvPr/>
        </p:nvSpPr>
        <p:spPr>
          <a:xfrm>
            <a:off x="532686" y="6503789"/>
            <a:ext cx="13565029"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2C2821"/>
                </a:solidFill>
                <a:latin typeface="Lora" pitchFamily="34" charset="0"/>
                <a:ea typeface="Lora" pitchFamily="34" charset="-122"/>
                <a:cs typeface="Lora" pitchFamily="34" charset="-120"/>
              </a:rPr>
              <a:t>Score(Token 1 vs Token 1) = [1, 0] .[1, 0]^T = 1</a:t>
            </a:r>
            <a:endParaRPr lang="en-US" sz="1150" dirty="0"/>
          </a:p>
        </p:txBody>
      </p:sp>
      <p:sp>
        <p:nvSpPr>
          <p:cNvPr id="29" name="Text 27"/>
          <p:cNvSpPr/>
          <p:nvPr/>
        </p:nvSpPr>
        <p:spPr>
          <a:xfrm>
            <a:off x="532686" y="6800612"/>
            <a:ext cx="13565029"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2C2821"/>
                </a:solidFill>
                <a:latin typeface="Lora" pitchFamily="34" charset="0"/>
                <a:ea typeface="Lora" pitchFamily="34" charset="-122"/>
                <a:cs typeface="Lora" pitchFamily="34" charset="-120"/>
              </a:rPr>
              <a:t>Score(Token 1 vs Token 2) = [1, 0]. [0, 1]^T = 0</a:t>
            </a:r>
            <a:endParaRPr lang="en-US" sz="1150" dirty="0"/>
          </a:p>
        </p:txBody>
      </p:sp>
      <p:sp>
        <p:nvSpPr>
          <p:cNvPr id="30" name="Text 28"/>
          <p:cNvSpPr/>
          <p:nvPr/>
        </p:nvSpPr>
        <p:spPr>
          <a:xfrm>
            <a:off x="532686" y="7215426"/>
            <a:ext cx="13565029" cy="243602"/>
          </a:xfrm>
          <a:prstGeom prst="rect">
            <a:avLst/>
          </a:prstGeom>
          <a:noFill/>
          <a:ln/>
        </p:spPr>
        <p:txBody>
          <a:bodyPr wrap="none" lIns="0" tIns="0" rIns="0" bIns="0" rtlCol="0" anchor="t"/>
          <a:lstStyle/>
          <a:p>
            <a:pPr algn="l" indent="0" marL="0">
              <a:lnSpc>
                <a:spcPts val="1900"/>
              </a:lnSpc>
              <a:buNone/>
            </a:pPr>
            <a:r>
              <a:rPr lang="en-US" sz="1150" dirty="0">
                <a:solidFill>
                  <a:srgbClr val="2C2821"/>
                </a:solidFill>
                <a:latin typeface="Lora" pitchFamily="34" charset="0"/>
                <a:ea typeface="Lora" pitchFamily="34" charset="-122"/>
                <a:cs typeface="Lora" pitchFamily="34" charset="-120"/>
              </a:rPr>
              <a:t>So the </a:t>
            </a:r>
            <a:pPr algn="l" indent="0" marL="0">
              <a:lnSpc>
                <a:spcPts val="1900"/>
              </a:lnSpc>
              <a:buNone/>
            </a:pPr>
            <a:r>
              <a:rPr lang="en-US" sz="1150" b="1" dirty="0">
                <a:solidFill>
                  <a:srgbClr val="2C2821"/>
                </a:solidFill>
                <a:latin typeface="Lora" pitchFamily="34" charset="0"/>
                <a:ea typeface="Lora" pitchFamily="34" charset="-122"/>
                <a:cs typeface="Lora" pitchFamily="34" charset="-120"/>
              </a:rPr>
              <a:t>score vector</a:t>
            </a:r>
            <a:pPr algn="l" indent="0" marL="0">
              <a:lnSpc>
                <a:spcPts val="1900"/>
              </a:lnSpc>
              <a:buNone/>
            </a:pPr>
            <a:r>
              <a:rPr lang="en-US" sz="1150" dirty="0">
                <a:solidFill>
                  <a:srgbClr val="2C2821"/>
                </a:solidFill>
                <a:latin typeface="Lora" pitchFamily="34" charset="0"/>
                <a:ea typeface="Lora" pitchFamily="34" charset="-122"/>
                <a:cs typeface="Lora" pitchFamily="34" charset="-120"/>
              </a:rPr>
              <a:t> for Token 1 is: [1,0]</a:t>
            </a:r>
            <a:endParaRPr lang="en-US" sz="1150" dirty="0"/>
          </a:p>
        </p:txBody>
      </p:sp>
      <p:sp>
        <p:nvSpPr>
          <p:cNvPr id="31" name="Text 29"/>
          <p:cNvSpPr/>
          <p:nvPr/>
        </p:nvSpPr>
        <p:spPr>
          <a:xfrm>
            <a:off x="532686" y="7630239"/>
            <a:ext cx="13565029" cy="194786"/>
          </a:xfrm>
          <a:prstGeom prst="rect">
            <a:avLst/>
          </a:prstGeom>
          <a:noFill/>
          <a:ln/>
        </p:spPr>
        <p:txBody>
          <a:bodyPr wrap="none" lIns="0" tIns="0" rIns="0" bIns="0" rtlCol="0" anchor="t"/>
          <a:lstStyle/>
          <a:p>
            <a:pPr algn="l" indent="0" marL="0">
              <a:lnSpc>
                <a:spcPts val="1500"/>
              </a:lnSpc>
              <a:buNone/>
            </a:pP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94511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2. Scale by dk(^1/2)</a:t>
            </a:r>
            <a:endParaRPr lang="en-US" sz="1750" dirty="0"/>
          </a:p>
        </p:txBody>
      </p:sp>
      <p:sp>
        <p:nvSpPr>
          <p:cNvPr id="3" name="Text 1"/>
          <p:cNvSpPr/>
          <p:nvPr/>
        </p:nvSpPr>
        <p:spPr>
          <a:xfrm>
            <a:off x="793790" y="156317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Here, dk=2, so sqrt(2)≈1.41</a:t>
            </a:r>
            <a:endParaRPr lang="en-US" sz="1750" dirty="0"/>
          </a:p>
        </p:txBody>
      </p:sp>
      <p:sp>
        <p:nvSpPr>
          <p:cNvPr id="4" name="Text 2"/>
          <p:cNvSpPr/>
          <p:nvPr/>
        </p:nvSpPr>
        <p:spPr>
          <a:xfrm>
            <a:off x="793790" y="2181225"/>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Scaled scores = [1/1.41,0/1.41]≈[0.71,0]</a:t>
            </a:r>
            <a:endParaRPr lang="en-US" sz="1750" dirty="0"/>
          </a:p>
        </p:txBody>
      </p:sp>
      <p:sp>
        <p:nvSpPr>
          <p:cNvPr id="5" name="Text 3"/>
          <p:cNvSpPr/>
          <p:nvPr/>
        </p:nvSpPr>
        <p:spPr>
          <a:xfrm>
            <a:off x="793790" y="279927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Step 3: Apply Softmax</a:t>
            </a:r>
            <a:endParaRPr lang="en-US" sz="1750" dirty="0"/>
          </a:p>
        </p:txBody>
      </p:sp>
      <p:sp>
        <p:nvSpPr>
          <p:cNvPr id="6" name="Text 4"/>
          <p:cNvSpPr/>
          <p:nvPr/>
        </p:nvSpPr>
        <p:spPr>
          <a:xfrm>
            <a:off x="793790" y="341733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softmax([0.71,0]) = [e^0.71/(e^0.71+e^0),e^0/(e^0.71+e^0)]</a:t>
            </a:r>
            <a:endParaRPr lang="en-US" sz="1750" dirty="0"/>
          </a:p>
        </p:txBody>
      </p:sp>
      <p:sp>
        <p:nvSpPr>
          <p:cNvPr id="7" name="Text 5"/>
          <p:cNvSpPr/>
          <p:nvPr/>
        </p:nvSpPr>
        <p:spPr>
          <a:xfrm>
            <a:off x="793790" y="4035385"/>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Softmax = [2.03/(2.03+1),1/(2.03+1)]≈[0.67,0.33]</a:t>
            </a:r>
            <a:endParaRPr lang="en-US" sz="1750" dirty="0"/>
          </a:p>
        </p:txBody>
      </p:sp>
      <p:sp>
        <p:nvSpPr>
          <p:cNvPr id="8" name="Text 6"/>
          <p:cNvSpPr/>
          <p:nvPr/>
        </p:nvSpPr>
        <p:spPr>
          <a:xfrm>
            <a:off x="793790" y="465343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Step 4: Multiply by Value Vectors</a:t>
            </a:r>
            <a:endParaRPr lang="en-US" sz="1750" dirty="0"/>
          </a:p>
        </p:txBody>
      </p:sp>
      <p:sp>
        <p:nvSpPr>
          <p:cNvPr id="9" name="Text 7"/>
          <p:cNvSpPr/>
          <p:nvPr/>
        </p:nvSpPr>
        <p:spPr>
          <a:xfrm>
            <a:off x="793790" y="527149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Now compute the weighted sum of the Value vectors:</a:t>
            </a:r>
            <a:endParaRPr lang="en-US" sz="1750" dirty="0"/>
          </a:p>
        </p:txBody>
      </p:sp>
      <p:sp>
        <p:nvSpPr>
          <p:cNvPr id="10" name="Text 8"/>
          <p:cNvSpPr/>
          <p:nvPr/>
        </p:nvSpPr>
        <p:spPr>
          <a:xfrm>
            <a:off x="793790" y="588954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Attention Output=0.67⋅[0.5,1.0]+0.33⋅[1.5,0.5]</a:t>
            </a:r>
            <a:endParaRPr lang="en-US" sz="1750" dirty="0"/>
          </a:p>
        </p:txBody>
      </p:sp>
      <p:sp>
        <p:nvSpPr>
          <p:cNvPr id="11" name="Text 9"/>
          <p:cNvSpPr/>
          <p:nvPr/>
        </p:nvSpPr>
        <p:spPr>
          <a:xfrm>
            <a:off x="793790" y="650759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Lora" pitchFamily="34" charset="0"/>
                <a:ea typeface="Lora" pitchFamily="34" charset="-122"/>
                <a:cs typeface="Lora" pitchFamily="34" charset="-120"/>
              </a:rPr>
              <a: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Final contextual  vector of token 1 = [0.83, 0.835]</a:t>
            </a:r>
            <a:endParaRPr lang="en-US" sz="1750" dirty="0"/>
          </a:p>
        </p:txBody>
      </p:sp>
      <p:sp>
        <p:nvSpPr>
          <p:cNvPr id="12" name="Text 10"/>
          <p:cNvSpPr/>
          <p:nvPr/>
        </p:nvSpPr>
        <p:spPr>
          <a:xfrm>
            <a:off x="793790" y="712565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The output is a context-rich representation of each token, ready for tasks like intent classification or entity extraction.</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18530" y="625554"/>
            <a:ext cx="3345299" cy="331351"/>
          </a:xfrm>
          <a:prstGeom prst="rect">
            <a:avLst/>
          </a:prstGeom>
          <a:noFill/>
          <a:ln/>
        </p:spPr>
        <p:txBody>
          <a:bodyPr wrap="none" lIns="0" tIns="0" rIns="0" bIns="0" rtlCol="0" anchor="t"/>
          <a:lstStyle/>
          <a:p>
            <a:pPr algn="l" indent="0" marL="0">
              <a:lnSpc>
                <a:spcPts val="2600"/>
              </a:lnSpc>
              <a:buNone/>
            </a:pPr>
            <a:r>
              <a:rPr lang="en-US" sz="2050" b="1" dirty="0">
                <a:solidFill>
                  <a:srgbClr val="233E32"/>
                </a:solidFill>
                <a:latin typeface="Alice" pitchFamily="34" charset="0"/>
                <a:ea typeface="Alice" pitchFamily="34" charset="-122"/>
                <a:cs typeface="Alice" pitchFamily="34" charset="-120"/>
              </a:rPr>
              <a:t>Step 3: Sentence Embedding</a:t>
            </a:r>
            <a:endParaRPr lang="en-US" sz="2050" dirty="0"/>
          </a:p>
        </p:txBody>
      </p:sp>
      <p:sp>
        <p:nvSpPr>
          <p:cNvPr id="3" name="Text 1"/>
          <p:cNvSpPr/>
          <p:nvPr/>
        </p:nvSpPr>
        <p:spPr>
          <a:xfrm>
            <a:off x="618530" y="1310402"/>
            <a:ext cx="13393341" cy="565785"/>
          </a:xfrm>
          <a:prstGeom prst="rect">
            <a:avLst/>
          </a:prstGeom>
          <a:noFill/>
          <a:ln/>
        </p:spPr>
        <p:txBody>
          <a:bodyPr wrap="squar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Once each token is enhanced with context using the Transformer layers, the model needs a single vector that </a:t>
            </a:r>
            <a:pPr algn="l" indent="0" marL="0">
              <a:lnSpc>
                <a:spcPts val="2200"/>
              </a:lnSpc>
              <a:buNone/>
            </a:pPr>
            <a:r>
              <a:rPr lang="en-US" sz="1350" b="1" dirty="0">
                <a:solidFill>
                  <a:srgbClr val="2C2821"/>
                </a:solidFill>
                <a:latin typeface="Lora" pitchFamily="34" charset="0"/>
                <a:ea typeface="Lora" pitchFamily="34" charset="-122"/>
                <a:cs typeface="Lora" pitchFamily="34" charset="-120"/>
              </a:rPr>
              <a:t>summarizes the entire message</a:t>
            </a:r>
            <a:pPr algn="l" indent="0" marL="0">
              <a:lnSpc>
                <a:spcPts val="2200"/>
              </a:lnSpc>
              <a:buNone/>
            </a:pPr>
            <a:r>
              <a:rPr lang="en-US" sz="1350" dirty="0">
                <a:solidFill>
                  <a:srgbClr val="2C2821"/>
                </a:solidFill>
                <a:latin typeface="Lora" pitchFamily="34" charset="0"/>
                <a:ea typeface="Lora" pitchFamily="34" charset="-122"/>
                <a:cs typeface="Lora" pitchFamily="34" charset="-120"/>
              </a:rPr>
              <a:t>—this is called the sequence embedding or sentence embedding. </a:t>
            </a:r>
            <a:endParaRPr lang="en-US" sz="1350" dirty="0"/>
          </a:p>
        </p:txBody>
      </p:sp>
      <p:sp>
        <p:nvSpPr>
          <p:cNvPr id="4" name="Text 2"/>
          <p:cNvSpPr/>
          <p:nvPr/>
        </p:nvSpPr>
        <p:spPr>
          <a:xfrm>
            <a:off x="618530" y="2075021"/>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This vector is generated by either </a:t>
            </a:r>
            <a:pPr algn="l" indent="0" marL="0">
              <a:lnSpc>
                <a:spcPts val="2200"/>
              </a:lnSpc>
              <a:buNone/>
            </a:pPr>
            <a:r>
              <a:rPr lang="en-US" sz="1350" b="1" dirty="0">
                <a:solidFill>
                  <a:srgbClr val="2C2821"/>
                </a:solidFill>
                <a:latin typeface="Lora" pitchFamily="34" charset="0"/>
                <a:ea typeface="Lora" pitchFamily="34" charset="-122"/>
                <a:cs typeface="Lora" pitchFamily="34" charset="-120"/>
              </a:rPr>
              <a:t>averaging or pooling </a:t>
            </a:r>
            <a:pPr algn="l" indent="0" marL="0">
              <a:lnSpc>
                <a:spcPts val="2200"/>
              </a:lnSpc>
              <a:buNone/>
            </a:pPr>
            <a:r>
              <a:rPr lang="en-US" sz="1350" dirty="0">
                <a:solidFill>
                  <a:srgbClr val="2C2821"/>
                </a:solidFill>
                <a:latin typeface="Lora" pitchFamily="34" charset="0"/>
                <a:ea typeface="Lora" pitchFamily="34" charset="-122"/>
                <a:cs typeface="Lora" pitchFamily="34" charset="-120"/>
              </a:rPr>
              <a:t>all the contextual token embeddings. </a:t>
            </a:r>
            <a:endParaRPr lang="en-US" sz="1350" dirty="0"/>
          </a:p>
        </p:txBody>
      </p:sp>
      <p:sp>
        <p:nvSpPr>
          <p:cNvPr id="5" name="Text 3"/>
          <p:cNvSpPr/>
          <p:nvPr/>
        </p:nvSpPr>
        <p:spPr>
          <a:xfrm>
            <a:off x="618530" y="2556748"/>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This single vector is a compressed, meaningful representation of the user’s full message, capturing what the user is trying to say and which words are important.</a:t>
            </a:r>
            <a:endParaRPr lang="en-US" sz="1350" dirty="0"/>
          </a:p>
        </p:txBody>
      </p:sp>
      <p:sp>
        <p:nvSpPr>
          <p:cNvPr id="6" name="Text 4"/>
          <p:cNvSpPr/>
          <p:nvPr/>
        </p:nvSpPr>
        <p:spPr>
          <a:xfrm>
            <a:off x="618530" y="3038475"/>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s=1/n​ ∑hi​    where 1&lt;i&lt;n</a:t>
            </a:r>
            <a:endParaRPr lang="en-US" sz="1350" dirty="0"/>
          </a:p>
        </p:txBody>
      </p:sp>
      <p:sp>
        <p:nvSpPr>
          <p:cNvPr id="7" name="Text 5"/>
          <p:cNvSpPr/>
          <p:nvPr/>
        </p:nvSpPr>
        <p:spPr>
          <a:xfrm>
            <a:off x="618530" y="3520202"/>
            <a:ext cx="13393341" cy="848678"/>
          </a:xfrm>
          <a:prstGeom prst="rect">
            <a:avLst/>
          </a:prstGeom>
          <a:noFill/>
          <a:ln/>
        </p:spPr>
        <p:txBody>
          <a:bodyPr wrap="squar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n is the number of tokens in the sentence,</a:t>
            </a:r>
            <a:pPr algn="l" indent="0" marL="0">
              <a:lnSpc>
                <a:spcPts val="2200"/>
              </a:lnSpc>
              <a:buNone/>
            </a:pPr>
            <a:r>
              <a:rPr lang="en-US" sz="1350" dirty="0">
                <a:solidFill>
                  <a:srgbClr val="2C2821"/>
                </a:solidFill>
                <a:latin typeface="Lora" pitchFamily="34" charset="0"/>
                <a:ea typeface="Lora" pitchFamily="34" charset="-122"/>
                <a:cs typeface="Lora" pitchFamily="34" charset="-120"/>
              </a:rPr>
              <a:t>
</a:t>
            </a:r>
            <a:pPr algn="l" indent="0" marL="0">
              <a:lnSpc>
                <a:spcPts val="2200"/>
              </a:lnSpc>
              <a:buNone/>
            </a:pPr>
            <a:r>
              <a:rPr lang="en-US" sz="1350" dirty="0">
                <a:solidFill>
                  <a:srgbClr val="2C2821"/>
                </a:solidFill>
                <a:latin typeface="Lora" pitchFamily="34" charset="0"/>
                <a:ea typeface="Lora" pitchFamily="34" charset="-122"/>
                <a:cs typeface="Lora" pitchFamily="34" charset="-120"/>
              </a:rPr>
              <a:t>hi​ is the contextual embedding of the ith token (after attention),</a:t>
            </a:r>
            <a:pPr algn="l" indent="0" marL="0">
              <a:lnSpc>
                <a:spcPts val="2200"/>
              </a:lnSpc>
              <a:buNone/>
            </a:pPr>
            <a:r>
              <a:rPr lang="en-US" sz="1350" dirty="0">
                <a:solidFill>
                  <a:srgbClr val="2C2821"/>
                </a:solidFill>
                <a:latin typeface="Lora" pitchFamily="34" charset="0"/>
                <a:ea typeface="Lora" pitchFamily="34" charset="-122"/>
                <a:cs typeface="Lora" pitchFamily="34" charset="-120"/>
              </a:rPr>
              <a:t>
</a:t>
            </a:r>
            <a:pPr algn="l" indent="0" marL="0">
              <a:lnSpc>
                <a:spcPts val="2200"/>
              </a:lnSpc>
              <a:buNone/>
            </a:pPr>
            <a:r>
              <a:rPr lang="en-US" sz="1350" dirty="0">
                <a:solidFill>
                  <a:srgbClr val="2C2821"/>
                </a:solidFill>
                <a:latin typeface="Lora" pitchFamily="34" charset="0"/>
                <a:ea typeface="Lora" pitchFamily="34" charset="-122"/>
                <a:cs typeface="Lora" pitchFamily="34" charset="-120"/>
              </a:rPr>
              <a:t>s is the final sentence vector.</a:t>
            </a:r>
            <a:endParaRPr lang="en-US" sz="1350" dirty="0"/>
          </a:p>
        </p:txBody>
      </p:sp>
      <p:sp>
        <p:nvSpPr>
          <p:cNvPr id="8" name="Text 6"/>
          <p:cNvSpPr/>
          <p:nvPr/>
        </p:nvSpPr>
        <p:spPr>
          <a:xfrm>
            <a:off x="618530" y="4567714"/>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Example: We have</a:t>
            </a:r>
            <a:endParaRPr lang="en-US" sz="1350" dirty="0"/>
          </a:p>
        </p:txBody>
      </p:sp>
      <p:sp>
        <p:nvSpPr>
          <p:cNvPr id="9" name="Text 7"/>
          <p:cNvSpPr/>
          <p:nvPr/>
        </p:nvSpPr>
        <p:spPr>
          <a:xfrm>
            <a:off x="618530" y="5049441"/>
            <a:ext cx="13393341" cy="282893"/>
          </a:xfrm>
          <a:prstGeom prst="rect">
            <a:avLst/>
          </a:prstGeom>
          <a:noFill/>
          <a:ln/>
        </p:spPr>
        <p:txBody>
          <a:bodyPr wrap="none" lIns="0" tIns="0" rIns="0" bIns="0" rtlCol="0" anchor="t"/>
          <a:lstStyle/>
          <a:p>
            <a:pPr algn="l" marL="342900" indent="-342900">
              <a:lnSpc>
                <a:spcPts val="2200"/>
              </a:lnSpc>
              <a:buSzPct val="100000"/>
              <a:buChar char="•"/>
            </a:pPr>
            <a:r>
              <a:rPr lang="en-US" sz="1350" dirty="0">
                <a:solidFill>
                  <a:srgbClr val="2C2821"/>
                </a:solidFill>
                <a:latin typeface="Lora" pitchFamily="34" charset="0"/>
                <a:ea typeface="Lora" pitchFamily="34" charset="-122"/>
                <a:cs typeface="Lora" pitchFamily="34" charset="-120"/>
              </a:rPr>
              <a:t>h1=[0.83, 0.835]</a:t>
            </a:r>
            <a:endParaRPr lang="en-US" sz="1350" dirty="0"/>
          </a:p>
        </p:txBody>
      </p:sp>
      <p:sp>
        <p:nvSpPr>
          <p:cNvPr id="10" name="Text 8"/>
          <p:cNvSpPr/>
          <p:nvPr/>
        </p:nvSpPr>
        <p:spPr>
          <a:xfrm>
            <a:off x="618530" y="5394127"/>
            <a:ext cx="13393341" cy="282893"/>
          </a:xfrm>
          <a:prstGeom prst="rect">
            <a:avLst/>
          </a:prstGeom>
          <a:noFill/>
          <a:ln/>
        </p:spPr>
        <p:txBody>
          <a:bodyPr wrap="none" lIns="0" tIns="0" rIns="0" bIns="0" rtlCol="0" anchor="t"/>
          <a:lstStyle/>
          <a:p>
            <a:pPr algn="l" marL="342900" indent="-342900">
              <a:lnSpc>
                <a:spcPts val="2200"/>
              </a:lnSpc>
              <a:buSzPct val="100000"/>
              <a:buChar char="•"/>
            </a:pPr>
            <a:r>
              <a:rPr lang="en-US" sz="1350" dirty="0">
                <a:solidFill>
                  <a:srgbClr val="2C2821"/>
                </a:solidFill>
                <a:latin typeface="Lora" pitchFamily="34" charset="0"/>
                <a:ea typeface="Lora" pitchFamily="34" charset="-122"/>
                <a:cs typeface="Lora" pitchFamily="34" charset="-120"/>
              </a:rPr>
              <a:t>h2=[1.17, 0.665]</a:t>
            </a:r>
            <a:endParaRPr lang="en-US" sz="1350" dirty="0"/>
          </a:p>
        </p:txBody>
      </p:sp>
      <p:sp>
        <p:nvSpPr>
          <p:cNvPr id="11" name="Text 9"/>
          <p:cNvSpPr/>
          <p:nvPr/>
        </p:nvSpPr>
        <p:spPr>
          <a:xfrm>
            <a:off x="618530" y="5875853"/>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Add them element-wise</a:t>
            </a:r>
            <a:endParaRPr lang="en-US" sz="1350" dirty="0"/>
          </a:p>
        </p:txBody>
      </p:sp>
      <p:sp>
        <p:nvSpPr>
          <p:cNvPr id="12" name="Text 10"/>
          <p:cNvSpPr/>
          <p:nvPr/>
        </p:nvSpPr>
        <p:spPr>
          <a:xfrm>
            <a:off x="618530" y="6357580"/>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[0.83+1.17,0.835+0.665]= [2.0,1.5]</a:t>
            </a:r>
            <a:endParaRPr lang="en-US" sz="1350" dirty="0"/>
          </a:p>
        </p:txBody>
      </p:sp>
      <p:sp>
        <p:nvSpPr>
          <p:cNvPr id="13" name="Text 11"/>
          <p:cNvSpPr/>
          <p:nvPr/>
        </p:nvSpPr>
        <p:spPr>
          <a:xfrm>
            <a:off x="618530" y="6839307"/>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Divide by the number of tokens (n = 2)</a:t>
            </a:r>
            <a:endParaRPr lang="en-US" sz="1350" dirty="0"/>
          </a:p>
        </p:txBody>
      </p:sp>
      <p:sp>
        <p:nvSpPr>
          <p:cNvPr id="14" name="Text 12"/>
          <p:cNvSpPr/>
          <p:nvPr/>
        </p:nvSpPr>
        <p:spPr>
          <a:xfrm>
            <a:off x="618530" y="7321034"/>
            <a:ext cx="13393341" cy="282893"/>
          </a:xfrm>
          <a:prstGeom prst="rect">
            <a:avLst/>
          </a:prstGeom>
          <a:noFill/>
          <a:ln/>
        </p:spPr>
        <p:txBody>
          <a:bodyPr wrap="none" lIns="0" tIns="0" rIns="0" bIns="0" rtlCol="0" anchor="t"/>
          <a:lstStyle/>
          <a:p>
            <a:pPr algn="l" indent="0" marL="0">
              <a:lnSpc>
                <a:spcPts val="2200"/>
              </a:lnSpc>
              <a:buNone/>
            </a:pPr>
            <a:r>
              <a:rPr lang="en-US" sz="1350" dirty="0">
                <a:solidFill>
                  <a:srgbClr val="2C2821"/>
                </a:solidFill>
                <a:latin typeface="Lora" pitchFamily="34" charset="0"/>
                <a:ea typeface="Lora" pitchFamily="34" charset="-122"/>
                <a:cs typeface="Lora" pitchFamily="34" charset="-120"/>
              </a:rPr>
              <a:t>s= [2.0/2,1.5/2]= [1.0,0.75]</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2361" y="622578"/>
            <a:ext cx="4157305" cy="424458"/>
          </a:xfrm>
          <a:prstGeom prst="rect">
            <a:avLst/>
          </a:prstGeom>
          <a:noFill/>
          <a:ln/>
        </p:spPr>
        <p:txBody>
          <a:bodyPr wrap="none" lIns="0" tIns="0" rIns="0" bIns="0" rtlCol="0" anchor="t"/>
          <a:lstStyle/>
          <a:p>
            <a:pPr algn="l" indent="0" marL="0">
              <a:lnSpc>
                <a:spcPts val="3300"/>
              </a:lnSpc>
              <a:buNone/>
            </a:pPr>
            <a:r>
              <a:rPr lang="en-US" sz="2650" b="1" dirty="0">
                <a:solidFill>
                  <a:srgbClr val="233E32"/>
                </a:solidFill>
                <a:latin typeface="Alice" pitchFamily="34" charset="0"/>
                <a:ea typeface="Alice" pitchFamily="34" charset="-122"/>
                <a:cs typeface="Alice" pitchFamily="34" charset="-120"/>
              </a:rPr>
              <a:t>Step 4: Intent Classification</a:t>
            </a:r>
            <a:endParaRPr lang="en-US" sz="2650" dirty="0"/>
          </a:p>
        </p:txBody>
      </p:sp>
      <p:sp>
        <p:nvSpPr>
          <p:cNvPr id="3" name="Text 1"/>
          <p:cNvSpPr/>
          <p:nvPr/>
        </p:nvSpPr>
        <p:spPr>
          <a:xfrm>
            <a:off x="792361" y="1499830"/>
            <a:ext cx="13045678" cy="362307"/>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Use the Final Sentence Embedding</a:t>
            </a:r>
            <a:endParaRPr lang="en-US" sz="1750" dirty="0"/>
          </a:p>
        </p:txBody>
      </p:sp>
      <p:sp>
        <p:nvSpPr>
          <p:cNvPr id="4" name="Text 2"/>
          <p:cNvSpPr/>
          <p:nvPr/>
        </p:nvSpPr>
        <p:spPr>
          <a:xfrm>
            <a:off x="792361" y="2116812"/>
            <a:ext cx="13045678" cy="362307"/>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From earlier, we have:</a:t>
            </a:r>
            <a:endParaRPr lang="en-US" sz="1750" dirty="0"/>
          </a:p>
        </p:txBody>
      </p:sp>
      <p:sp>
        <p:nvSpPr>
          <p:cNvPr id="5" name="Text 3"/>
          <p:cNvSpPr/>
          <p:nvPr/>
        </p:nvSpPr>
        <p:spPr>
          <a:xfrm>
            <a:off x="792361" y="2733794"/>
            <a:ext cx="13045678"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Sentence embedding: s=[1.0,0.75]</a:t>
            </a:r>
            <a:endParaRPr lang="en-US" sz="1750" dirty="0"/>
          </a:p>
        </p:txBody>
      </p:sp>
      <p:sp>
        <p:nvSpPr>
          <p:cNvPr id="6" name="Text 4"/>
          <p:cNvSpPr/>
          <p:nvPr/>
        </p:nvSpPr>
        <p:spPr>
          <a:xfrm>
            <a:off x="792361" y="3350776"/>
            <a:ext cx="13045678" cy="362307"/>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Pass Through Linear Layer</a:t>
            </a:r>
            <a:endParaRPr lang="en-US" sz="1750" dirty="0"/>
          </a:p>
        </p:txBody>
      </p:sp>
      <p:sp>
        <p:nvSpPr>
          <p:cNvPr id="7" name="Text 5"/>
          <p:cNvSpPr/>
          <p:nvPr/>
        </p:nvSpPr>
        <p:spPr>
          <a:xfrm>
            <a:off x="792361" y="3967758"/>
            <a:ext cx="13045678" cy="362307"/>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The model uses:</a:t>
            </a:r>
            <a:endParaRPr lang="en-US" sz="1750" dirty="0"/>
          </a:p>
        </p:txBody>
      </p:sp>
      <p:sp>
        <p:nvSpPr>
          <p:cNvPr id="8" name="Text 6"/>
          <p:cNvSpPr/>
          <p:nvPr/>
        </p:nvSpPr>
        <p:spPr>
          <a:xfrm>
            <a:off x="792361" y="4584740"/>
            <a:ext cx="13045678"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Weight matrix Wi</a:t>
            </a:r>
            <a:endParaRPr lang="en-US" sz="1750" dirty="0"/>
          </a:p>
        </p:txBody>
      </p:sp>
      <p:sp>
        <p:nvSpPr>
          <p:cNvPr id="9" name="Text 7"/>
          <p:cNvSpPr/>
          <p:nvPr/>
        </p:nvSpPr>
        <p:spPr>
          <a:xfrm>
            <a:off x="792361" y="5026223"/>
            <a:ext cx="13045678"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Bias vector bi​</a:t>
            </a:r>
            <a:endParaRPr lang="en-US" sz="1750" dirty="0"/>
          </a:p>
        </p:txBody>
      </p:sp>
      <p:sp>
        <p:nvSpPr>
          <p:cNvPr id="10" name="Text 8"/>
          <p:cNvSpPr/>
          <p:nvPr/>
        </p:nvSpPr>
        <p:spPr>
          <a:xfrm>
            <a:off x="792361" y="5643205"/>
            <a:ext cx="13045678" cy="732234"/>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Let’s assume we have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3 intent classes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["greet", "ask_symptom_remedy", "goodbye"]</a:t>
            </a:r>
            <a:endParaRPr lang="en-US" sz="1750" dirty="0"/>
          </a:p>
        </p:txBody>
      </p:sp>
      <p:sp>
        <p:nvSpPr>
          <p:cNvPr id="11" name="Text 9"/>
          <p:cNvSpPr/>
          <p:nvPr/>
        </p:nvSpPr>
        <p:spPr>
          <a:xfrm>
            <a:off x="792361" y="6630114"/>
            <a:ext cx="13045678" cy="362307"/>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We define:</a:t>
            </a:r>
            <a:endParaRPr lang="en-US" sz="1750" dirty="0"/>
          </a:p>
        </p:txBody>
      </p:sp>
      <p:sp>
        <p:nvSpPr>
          <p:cNvPr id="12" name="Text 10"/>
          <p:cNvSpPr/>
          <p:nvPr/>
        </p:nvSpPr>
        <p:spPr>
          <a:xfrm>
            <a:off x="792361" y="7247096"/>
            <a:ext cx="13045678" cy="362307"/>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Wi = [0.2    0.4, 0.7      0.1, 0.5   0.3],      bi = [0.1,0.2,0.0]</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5330" y="768668"/>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Now compute:</a:t>
            </a:r>
            <a:endParaRPr lang="en-US" sz="1650" dirty="0"/>
          </a:p>
        </p:txBody>
      </p:sp>
      <p:sp>
        <p:nvSpPr>
          <p:cNvPr id="3" name="Text 1"/>
          <p:cNvSpPr/>
          <p:nvPr/>
        </p:nvSpPr>
        <p:spPr>
          <a:xfrm>
            <a:off x="735330" y="1341239"/>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z=Wi⋅s+bi</a:t>
            </a:r>
            <a:endParaRPr lang="en-US" sz="1650" dirty="0"/>
          </a:p>
        </p:txBody>
      </p:sp>
      <p:sp>
        <p:nvSpPr>
          <p:cNvPr id="4" name="Text 2"/>
          <p:cNvSpPr/>
          <p:nvPr/>
        </p:nvSpPr>
        <p:spPr>
          <a:xfrm>
            <a:off x="735330" y="1913811"/>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Matrix Multiplication</a:t>
            </a:r>
            <a:endParaRPr lang="en-US" sz="1650" dirty="0"/>
          </a:p>
        </p:txBody>
      </p:sp>
      <p:sp>
        <p:nvSpPr>
          <p:cNvPr id="5" name="Text 3"/>
          <p:cNvSpPr/>
          <p:nvPr/>
        </p:nvSpPr>
        <p:spPr>
          <a:xfrm>
            <a:off x="735330" y="2486382"/>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Wi⋅s = [0.2∗1.0+0.4∗0.75, 0.7∗1.0+0.1∗0.75, 0.5∗1.0+0.3∗0.75]= [0.2+0.3, 0.7+0.075, 0.5+0.225] = [0.5  0.775  0.725]</a:t>
            </a:r>
            <a:endParaRPr lang="en-US" sz="1650" dirty="0"/>
          </a:p>
        </p:txBody>
      </p:sp>
      <p:sp>
        <p:nvSpPr>
          <p:cNvPr id="6" name="Text 4"/>
          <p:cNvSpPr/>
          <p:nvPr/>
        </p:nvSpPr>
        <p:spPr>
          <a:xfrm>
            <a:off x="735330" y="3058954"/>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Add bias:</a:t>
            </a:r>
            <a:endParaRPr lang="en-US" sz="1650" dirty="0"/>
          </a:p>
        </p:txBody>
      </p:sp>
      <p:sp>
        <p:nvSpPr>
          <p:cNvPr id="7" name="Text 5"/>
          <p:cNvSpPr/>
          <p:nvPr/>
        </p:nvSpPr>
        <p:spPr>
          <a:xfrm>
            <a:off x="735330" y="3631525"/>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z = [0.5+0.1, 0.775+0.2, 0.725+0.0]=[0.6, 0.975, 0.725]</a:t>
            </a:r>
            <a:endParaRPr lang="en-US" sz="1650" dirty="0"/>
          </a:p>
        </p:txBody>
      </p:sp>
      <p:sp>
        <p:nvSpPr>
          <p:cNvPr id="8" name="Text 6"/>
          <p:cNvSpPr/>
          <p:nvPr/>
        </p:nvSpPr>
        <p:spPr>
          <a:xfrm>
            <a:off x="735330" y="4204097"/>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Apply SoftMax</a:t>
            </a:r>
            <a:endParaRPr lang="en-US" sz="1650" dirty="0"/>
          </a:p>
        </p:txBody>
      </p:sp>
      <p:sp>
        <p:nvSpPr>
          <p:cNvPr id="9" name="Text 7"/>
          <p:cNvSpPr/>
          <p:nvPr/>
        </p:nvSpPr>
        <p:spPr>
          <a:xfrm>
            <a:off x="735330" y="4776668"/>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softmax(zi)=e^zi/∑e^zj</a:t>
            </a:r>
            <a:endParaRPr lang="en-US" sz="1650" dirty="0"/>
          </a:p>
        </p:txBody>
      </p:sp>
      <p:sp>
        <p:nvSpPr>
          <p:cNvPr id="10" name="Text 8"/>
          <p:cNvSpPr/>
          <p:nvPr/>
        </p:nvSpPr>
        <p:spPr>
          <a:xfrm>
            <a:off x="735330" y="5349240"/>
            <a:ext cx="13159740" cy="336233"/>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Probabilities:</a:t>
            </a:r>
            <a:endParaRPr lang="en-US" sz="1650" dirty="0"/>
          </a:p>
        </p:txBody>
      </p:sp>
      <p:sp>
        <p:nvSpPr>
          <p:cNvPr id="11" name="Text 9"/>
          <p:cNvSpPr/>
          <p:nvPr/>
        </p:nvSpPr>
        <p:spPr>
          <a:xfrm>
            <a:off x="735330" y="5921812"/>
            <a:ext cx="13159740" cy="336233"/>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greet: 1.822/6.54≈0.278</a:t>
            </a:r>
            <a:endParaRPr lang="en-US" sz="1650" dirty="0"/>
          </a:p>
        </p:txBody>
      </p:sp>
      <p:sp>
        <p:nvSpPr>
          <p:cNvPr id="12" name="Text 10"/>
          <p:cNvSpPr/>
          <p:nvPr/>
        </p:nvSpPr>
        <p:spPr>
          <a:xfrm>
            <a:off x="735330" y="6331506"/>
            <a:ext cx="13159740" cy="336233"/>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ask_symptom_remedy: 2.653/6.54≈0.406</a:t>
            </a:r>
            <a:endParaRPr lang="en-US" sz="1650" dirty="0"/>
          </a:p>
        </p:txBody>
      </p:sp>
      <p:sp>
        <p:nvSpPr>
          <p:cNvPr id="13" name="Text 11"/>
          <p:cNvSpPr/>
          <p:nvPr/>
        </p:nvSpPr>
        <p:spPr>
          <a:xfrm>
            <a:off x="735330" y="6741200"/>
            <a:ext cx="13159740" cy="336233"/>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goodbye: 2.065/6.54≈0.316</a:t>
            </a:r>
            <a:endParaRPr lang="en-US" sz="1650" dirty="0"/>
          </a:p>
        </p:txBody>
      </p:sp>
      <p:sp>
        <p:nvSpPr>
          <p:cNvPr id="14" name="Text 12"/>
          <p:cNvSpPr/>
          <p:nvPr/>
        </p:nvSpPr>
        <p:spPr>
          <a:xfrm>
            <a:off x="735330" y="7313771"/>
            <a:ext cx="13159740" cy="336233"/>
          </a:xfrm>
          <a:prstGeom prst="rect">
            <a:avLst/>
          </a:prstGeom>
          <a:noFill/>
          <a:ln/>
        </p:spPr>
        <p:txBody>
          <a:bodyPr wrap="none" lIns="0" tIns="0" rIns="0" bIns="0" rtlCol="0" anchor="t"/>
          <a:lstStyle/>
          <a:p>
            <a:pPr algn="l" indent="0" marL="0">
              <a:lnSpc>
                <a:spcPts val="2600"/>
              </a:lnSpc>
              <a:buNone/>
            </a:pPr>
            <a:r>
              <a:rPr lang="en-US" sz="1650" b="1" dirty="0">
                <a:solidFill>
                  <a:srgbClr val="2C2821"/>
                </a:solidFill>
                <a:latin typeface="Lora" pitchFamily="34" charset="0"/>
                <a:ea typeface="Lora" pitchFamily="34" charset="-122"/>
                <a:cs typeface="Lora" pitchFamily="34" charset="-120"/>
              </a:rPr>
              <a:t>Predicted Intent</a:t>
            </a:r>
            <a:pPr algn="l" indent="0" marL="0">
              <a:lnSpc>
                <a:spcPts val="2600"/>
              </a:lnSpc>
              <a:buNone/>
            </a:pPr>
            <a:r>
              <a:rPr lang="en-US" sz="1650" dirty="0">
                <a:solidFill>
                  <a:srgbClr val="2C2821"/>
                </a:solidFill>
                <a:latin typeface="Lora" pitchFamily="34" charset="0"/>
                <a:ea typeface="Lora" pitchFamily="34" charset="-122"/>
                <a:cs typeface="Lora" pitchFamily="34" charset="-120"/>
              </a:rPr>
              <a:t>: </a:t>
            </a:r>
            <a:pPr algn="l" indent="0" marL="0">
              <a:lnSpc>
                <a:spcPts val="2600"/>
              </a:lnSpc>
              <a:buNone/>
            </a:pPr>
            <a:r>
              <a:rPr lang="en-US" sz="1650" dirty="0">
                <a:solidFill>
                  <a:srgbClr val="2C2821"/>
                </a:solidFill>
                <a:highlight>
                  <a:srgbClr val="D7F4E4"/>
                </a:highlight>
                <a:latin typeface="Consolas" pitchFamily="34" charset="0"/>
                <a:ea typeface="Consolas" pitchFamily="34" charset="-122"/>
                <a:cs typeface="Consolas" pitchFamily="34" charset="-120"/>
              </a:rPr>
              <a:t>ask_symptom_remedy</a:t>
            </a:r>
            <a:pPr algn="l" indent="0" marL="0">
              <a:lnSpc>
                <a:spcPts val="2600"/>
              </a:lnSpc>
              <a:buNone/>
            </a:pPr>
            <a:r>
              <a:rPr lang="en-US" sz="1650" dirty="0">
                <a:solidFill>
                  <a:srgbClr val="2C2821"/>
                </a:solidFill>
                <a:latin typeface="Lora" pitchFamily="34" charset="0"/>
                <a:ea typeface="Lora" pitchFamily="34" charset="-122"/>
                <a:cs typeface="Lora" pitchFamily="34" charset="-120"/>
              </a:rPr>
              <a:t> (highest score = 0.406)</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733425"/>
            <a:ext cx="3711178" cy="425291"/>
          </a:xfrm>
          <a:prstGeom prst="rect">
            <a:avLst/>
          </a:prstGeom>
          <a:noFill/>
          <a:ln/>
        </p:spPr>
        <p:txBody>
          <a:bodyPr wrap="none" lIns="0" tIns="0" rIns="0" bIns="0" rtlCol="0" anchor="t"/>
          <a:lstStyle/>
          <a:p>
            <a:pPr algn="l" indent="0" marL="0">
              <a:lnSpc>
                <a:spcPts val="3300"/>
              </a:lnSpc>
              <a:buNone/>
            </a:pPr>
            <a:r>
              <a:rPr lang="en-US" sz="2650" b="1" dirty="0">
                <a:solidFill>
                  <a:srgbClr val="233E32"/>
                </a:solidFill>
                <a:latin typeface="Alice" pitchFamily="34" charset="0"/>
                <a:ea typeface="Alice" pitchFamily="34" charset="-122"/>
                <a:cs typeface="Alice" pitchFamily="34" charset="-120"/>
              </a:rPr>
              <a:t>Step 5: Entity Extraction</a:t>
            </a:r>
            <a:endParaRPr lang="en-US" sz="2650" dirty="0"/>
          </a:p>
        </p:txBody>
      </p:sp>
      <p:sp>
        <p:nvSpPr>
          <p:cNvPr id="3" name="Text 1"/>
          <p:cNvSpPr/>
          <p:nvPr/>
        </p:nvSpPr>
        <p:spPr>
          <a:xfrm>
            <a:off x="793790" y="161234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While intent classification gives the overall meaning of the message,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entity extraction identifies important words (like symptoms, dates, etc.).</a:t>
            </a:r>
            <a:endParaRPr lang="en-US" sz="1750" dirty="0"/>
          </a:p>
        </p:txBody>
      </p:sp>
      <p:sp>
        <p:nvSpPr>
          <p:cNvPr id="4" name="Text 2"/>
          <p:cNvSpPr/>
          <p:nvPr/>
        </p:nvSpPr>
        <p:spPr>
          <a:xfrm>
            <a:off x="793790" y="2593300"/>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Token Embeddings from Transformer</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Each word in the message has its own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contextual embedding</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from the transformer:</a:t>
            </a:r>
            <a:endParaRPr lang="en-US" sz="1750" dirty="0"/>
          </a:p>
        </p:txBody>
      </p:sp>
      <p:sp>
        <p:nvSpPr>
          <p:cNvPr id="5" name="Text 3"/>
          <p:cNvSpPr/>
          <p:nvPr/>
        </p:nvSpPr>
        <p:spPr>
          <a:xfrm>
            <a:off x="793790" y="3574256"/>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Example tokens: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"I"</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"have"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"a"</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"headache"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"and"</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"fever"</a:t>
            </a:r>
            <a:endParaRPr lang="en-US" sz="1750" dirty="0"/>
          </a:p>
        </p:txBody>
      </p:sp>
      <p:sp>
        <p:nvSpPr>
          <p:cNvPr id="6" name="Text 4"/>
          <p:cNvSpPr/>
          <p:nvPr/>
        </p:nvSpPr>
        <p:spPr>
          <a:xfrm>
            <a:off x="793790" y="4024074"/>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Corresponding embeddings: t1,t2,…,tn</a:t>
            </a:r>
            <a:endParaRPr lang="en-US" sz="1750" dirty="0"/>
          </a:p>
        </p:txBody>
      </p:sp>
      <p:sp>
        <p:nvSpPr>
          <p:cNvPr id="7" name="Text 5"/>
          <p:cNvSpPr/>
          <p:nvPr/>
        </p:nvSpPr>
        <p:spPr>
          <a:xfrm>
            <a:off x="793790" y="4642128"/>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Pass Through Entity Classifier</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For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each token embedding ti</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we compute:        y^entity=softmax(We⋅ti+be)</a:t>
            </a:r>
            <a:endParaRPr lang="en-US" sz="1750" dirty="0"/>
          </a:p>
        </p:txBody>
      </p:sp>
      <p:sp>
        <p:nvSpPr>
          <p:cNvPr id="8" name="Text 6"/>
          <p:cNvSpPr/>
          <p:nvPr/>
        </p:nvSpPr>
        <p:spPr>
          <a:xfrm>
            <a:off x="793790" y="5623084"/>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Output</a:t>
            </a:r>
            <a:endParaRPr lang="en-US" sz="1750" dirty="0"/>
          </a:p>
        </p:txBody>
      </p:sp>
      <p:sp>
        <p:nvSpPr>
          <p:cNvPr id="9" name="Text 7"/>
          <p:cNvSpPr/>
          <p:nvPr/>
        </p:nvSpPr>
        <p:spPr>
          <a:xfrm>
            <a:off x="793790" y="6241137"/>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This gives a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probability distribution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over entity labels like:</a:t>
            </a:r>
            <a:endParaRPr lang="en-US" sz="1750" dirty="0"/>
          </a:p>
        </p:txBody>
      </p:sp>
      <p:sp>
        <p:nvSpPr>
          <p:cNvPr id="10" name="Text 8"/>
          <p:cNvSpPr/>
          <p:nvPr/>
        </p:nvSpPr>
        <p:spPr>
          <a:xfrm>
            <a:off x="793790" y="6683335"/>
            <a:ext cx="13042821" cy="370523"/>
          </a:xfrm>
          <a:prstGeom prst="rect">
            <a:avLst/>
          </a:prstGeom>
          <a:noFill/>
          <a:ln/>
        </p:spPr>
        <p:txBody>
          <a:bodyPr wrap="none" lIns="0" tIns="0" rIns="0" bIns="0" rtlCol="0" anchor="t"/>
          <a:lstStyle/>
          <a:p>
            <a:pPr algn="l" lvl="1" marL="685800" indent="-342900">
              <a:lnSpc>
                <a:spcPts val="2850"/>
              </a:lnSpc>
              <a:buSzPct val="100000"/>
              <a:buChar char="•"/>
            </a:pPr>
            <a:r>
              <a:rPr lang="en-US" sz="1750" dirty="0">
                <a:solidFill>
                  <a:srgbClr val="2C2821"/>
                </a:solidFill>
                <a:highlight>
                  <a:srgbClr val="D7F4E4"/>
                </a:highlight>
                <a:latin typeface="Consolas" pitchFamily="34" charset="0"/>
                <a:ea typeface="Consolas" pitchFamily="34" charset="-122"/>
                <a:cs typeface="Consolas" pitchFamily="34" charset="-120"/>
              </a:rPr>
              <a:t>SYMPTOM</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DATE</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LOCATION</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lvl="1"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O</a:t>
            </a:r>
            <a:pPr algn="l" lvl="1" indent="0" marL="0">
              <a:lnSpc>
                <a:spcPts val="2850"/>
              </a:lnSpc>
              <a:buNone/>
            </a:pPr>
            <a:r>
              <a:rPr lang="en-US" sz="1750" dirty="0">
                <a:solidFill>
                  <a:srgbClr val="2C2821"/>
                </a:solidFill>
                <a:latin typeface="Lora" pitchFamily="34" charset="0"/>
                <a:ea typeface="Lora" pitchFamily="34" charset="-122"/>
                <a:cs typeface="Lora" pitchFamily="34" charset="-120"/>
              </a:rPr>
              <a:t> (no entity), etc.</a:t>
            </a:r>
            <a:endParaRPr lang="en-US" sz="1750" dirty="0"/>
          </a:p>
        </p:txBody>
      </p:sp>
      <p:sp>
        <p:nvSpPr>
          <p:cNvPr id="11" name="Text 9"/>
          <p:cNvSpPr/>
          <p:nvPr/>
        </p:nvSpPr>
        <p:spPr>
          <a:xfrm>
            <a:off x="793790" y="7133153"/>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The label with the highest score is chosen.</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35925" y="591026"/>
            <a:ext cx="5179457" cy="394216"/>
          </a:xfrm>
          <a:prstGeom prst="rect">
            <a:avLst/>
          </a:prstGeom>
          <a:noFill/>
          <a:ln/>
        </p:spPr>
        <p:txBody>
          <a:bodyPr wrap="none" lIns="0" tIns="0" rIns="0" bIns="0" rtlCol="0" anchor="t"/>
          <a:lstStyle/>
          <a:p>
            <a:pPr algn="l" indent="0" marL="0">
              <a:lnSpc>
                <a:spcPts val="3100"/>
              </a:lnSpc>
              <a:buNone/>
            </a:pPr>
            <a:r>
              <a:rPr lang="en-US" sz="2450" b="1" dirty="0">
                <a:solidFill>
                  <a:srgbClr val="233E32"/>
                </a:solidFill>
                <a:latin typeface="Alice" pitchFamily="34" charset="0"/>
                <a:ea typeface="Alice" pitchFamily="34" charset="-122"/>
                <a:cs typeface="Alice" pitchFamily="34" charset="-120"/>
              </a:rPr>
              <a:t>Step 6: Loss Calculation and Training</a:t>
            </a:r>
            <a:endParaRPr lang="en-US" sz="2450" dirty="0"/>
          </a:p>
        </p:txBody>
      </p:sp>
      <p:sp>
        <p:nvSpPr>
          <p:cNvPr id="3" name="Text 1"/>
          <p:cNvSpPr/>
          <p:nvPr/>
        </p:nvSpPr>
        <p:spPr>
          <a:xfrm>
            <a:off x="735925" y="1405771"/>
            <a:ext cx="13158549" cy="336352"/>
          </a:xfrm>
          <a:prstGeom prst="rect">
            <a:avLst/>
          </a:prstGeom>
          <a:noFill/>
          <a:ln/>
        </p:spPr>
        <p:txBody>
          <a:bodyPr wrap="none" lIns="0" tIns="0" rIns="0" bIns="0" rtlCol="0" anchor="t"/>
          <a:lstStyle/>
          <a:p>
            <a:pPr algn="l" indent="0" marL="0">
              <a:lnSpc>
                <a:spcPts val="2600"/>
              </a:lnSpc>
              <a:buNone/>
            </a:pPr>
            <a:r>
              <a:rPr lang="en-US" sz="1650" b="1" dirty="0">
                <a:solidFill>
                  <a:srgbClr val="2C2821"/>
                </a:solidFill>
                <a:latin typeface="Lora" pitchFamily="34" charset="0"/>
                <a:ea typeface="Lora" pitchFamily="34" charset="-122"/>
                <a:cs typeface="Lora" pitchFamily="34" charset="-120"/>
              </a:rPr>
              <a:t>Separate Loss Functions</a:t>
            </a:r>
            <a:endParaRPr lang="en-US" sz="1650" dirty="0"/>
          </a:p>
        </p:txBody>
      </p:sp>
      <p:sp>
        <p:nvSpPr>
          <p:cNvPr id="4" name="Text 2"/>
          <p:cNvSpPr/>
          <p:nvPr/>
        </p:nvSpPr>
        <p:spPr>
          <a:xfrm>
            <a:off x="735925" y="1978581"/>
            <a:ext cx="13158549" cy="336352"/>
          </a:xfrm>
          <a:prstGeom prst="rect">
            <a:avLst/>
          </a:prstGeom>
          <a:noFill/>
          <a:ln/>
        </p:spPr>
        <p:txBody>
          <a:bodyPr wrap="none" lIns="0" tIns="0" rIns="0" bIns="0" rtlCol="0" anchor="t"/>
          <a:lstStyle/>
          <a:p>
            <a:pPr algn="l" marL="342900" indent="-342900">
              <a:lnSpc>
                <a:spcPts val="2600"/>
              </a:lnSpc>
              <a:buSzPct val="100000"/>
              <a:buChar char="•"/>
            </a:pPr>
            <a:r>
              <a:rPr lang="en-US" sz="1650" b="1" dirty="0">
                <a:solidFill>
                  <a:srgbClr val="2C2821"/>
                </a:solidFill>
                <a:latin typeface="Lora" pitchFamily="34" charset="0"/>
                <a:ea typeface="Lora" pitchFamily="34" charset="-122"/>
                <a:cs typeface="Lora" pitchFamily="34" charset="-120"/>
              </a:rPr>
              <a:t>Intent Loss (</a:t>
            </a:r>
            <a:pPr algn="l" indent="0" marL="0">
              <a:lnSpc>
                <a:spcPts val="2600"/>
              </a:lnSpc>
              <a:buNone/>
            </a:pPr>
            <a:r>
              <a:rPr lang="en-US" sz="1650" dirty="0">
                <a:solidFill>
                  <a:srgbClr val="2C2821"/>
                </a:solidFill>
                <a:highlight>
                  <a:srgbClr val="D7F4E4"/>
                </a:highlight>
                <a:latin typeface="Consolas" pitchFamily="34" charset="0"/>
                <a:ea typeface="Consolas" pitchFamily="34" charset="-122"/>
                <a:cs typeface="Consolas" pitchFamily="34" charset="-120"/>
              </a:rPr>
              <a:t>L_intent</a:t>
            </a:r>
            <a:pPr algn="l" indent="0" marL="0">
              <a:lnSpc>
                <a:spcPts val="2600"/>
              </a:lnSpc>
              <a:buNone/>
            </a:pPr>
            <a:r>
              <a:rPr lang="en-US" sz="1650" b="1" dirty="0">
                <a:solidFill>
                  <a:srgbClr val="2C2821"/>
                </a:solidFill>
                <a:latin typeface="Lora" pitchFamily="34" charset="0"/>
                <a:ea typeface="Lora" pitchFamily="34" charset="-122"/>
                <a:cs typeface="Lora" pitchFamily="34" charset="-120"/>
              </a:rPr>
              <a:t>)</a:t>
            </a:r>
            <a:pPr algn="l" indent="0" marL="0">
              <a:lnSpc>
                <a:spcPts val="2600"/>
              </a:lnSpc>
              <a:buNone/>
            </a:pPr>
            <a:r>
              <a:rPr lang="en-US" sz="1650" dirty="0">
                <a:solidFill>
                  <a:srgbClr val="2C2821"/>
                </a:solidFill>
                <a:latin typeface="Lora" pitchFamily="34" charset="0"/>
                <a:ea typeface="Lora" pitchFamily="34" charset="-122"/>
                <a:cs typeface="Lora" pitchFamily="34" charset="-120"/>
              </a:rPr>
              <a:t>: Measures how far the predicted intent is from the true one.</a:t>
            </a:r>
            <a:endParaRPr lang="en-US" sz="1650" dirty="0"/>
          </a:p>
        </p:txBody>
      </p:sp>
      <p:sp>
        <p:nvSpPr>
          <p:cNvPr id="5" name="Text 3"/>
          <p:cNvSpPr/>
          <p:nvPr/>
        </p:nvSpPr>
        <p:spPr>
          <a:xfrm>
            <a:off x="735925" y="2388513"/>
            <a:ext cx="13158549" cy="336352"/>
          </a:xfrm>
          <a:prstGeom prst="rect">
            <a:avLst/>
          </a:prstGeom>
          <a:noFill/>
          <a:ln/>
        </p:spPr>
        <p:txBody>
          <a:bodyPr wrap="none" lIns="0" tIns="0" rIns="0" bIns="0" rtlCol="0" anchor="t"/>
          <a:lstStyle/>
          <a:p>
            <a:pPr algn="l" marL="342900" indent="-342900">
              <a:lnSpc>
                <a:spcPts val="2600"/>
              </a:lnSpc>
              <a:buSzPct val="100000"/>
              <a:buChar char="•"/>
            </a:pPr>
            <a:r>
              <a:rPr lang="en-US" sz="1650" b="1" dirty="0">
                <a:solidFill>
                  <a:srgbClr val="2C2821"/>
                </a:solidFill>
                <a:latin typeface="Lora" pitchFamily="34" charset="0"/>
                <a:ea typeface="Lora" pitchFamily="34" charset="-122"/>
                <a:cs typeface="Lora" pitchFamily="34" charset="-120"/>
              </a:rPr>
              <a:t>Entity Loss (</a:t>
            </a:r>
            <a:pPr algn="l" indent="0" marL="0">
              <a:lnSpc>
                <a:spcPts val="2600"/>
              </a:lnSpc>
              <a:buNone/>
            </a:pPr>
            <a:r>
              <a:rPr lang="en-US" sz="1650" dirty="0">
                <a:solidFill>
                  <a:srgbClr val="2C2821"/>
                </a:solidFill>
                <a:highlight>
                  <a:srgbClr val="D7F4E4"/>
                </a:highlight>
                <a:latin typeface="Consolas" pitchFamily="34" charset="0"/>
                <a:ea typeface="Consolas" pitchFamily="34" charset="-122"/>
                <a:cs typeface="Consolas" pitchFamily="34" charset="-120"/>
              </a:rPr>
              <a:t>L_entity</a:t>
            </a:r>
            <a:pPr algn="l" indent="0" marL="0">
              <a:lnSpc>
                <a:spcPts val="2600"/>
              </a:lnSpc>
              <a:buNone/>
            </a:pPr>
            <a:r>
              <a:rPr lang="en-US" sz="1650" b="1" dirty="0">
                <a:solidFill>
                  <a:srgbClr val="2C2821"/>
                </a:solidFill>
                <a:latin typeface="Lora" pitchFamily="34" charset="0"/>
                <a:ea typeface="Lora" pitchFamily="34" charset="-122"/>
                <a:cs typeface="Lora" pitchFamily="34" charset="-120"/>
              </a:rPr>
              <a:t>)</a:t>
            </a:r>
            <a:pPr algn="l" indent="0" marL="0">
              <a:lnSpc>
                <a:spcPts val="2600"/>
              </a:lnSpc>
              <a:buNone/>
            </a:pPr>
            <a:r>
              <a:rPr lang="en-US" sz="1650" dirty="0">
                <a:solidFill>
                  <a:srgbClr val="2C2821"/>
                </a:solidFill>
                <a:latin typeface="Lora" pitchFamily="34" charset="0"/>
                <a:ea typeface="Lora" pitchFamily="34" charset="-122"/>
                <a:cs typeface="Lora" pitchFamily="34" charset="-120"/>
              </a:rPr>
              <a:t>: Measures how wrong the entity tags are for each token.</a:t>
            </a:r>
            <a:endParaRPr lang="en-US" sz="1650" dirty="0"/>
          </a:p>
        </p:txBody>
      </p:sp>
      <p:sp>
        <p:nvSpPr>
          <p:cNvPr id="6" name="Text 4"/>
          <p:cNvSpPr/>
          <p:nvPr/>
        </p:nvSpPr>
        <p:spPr>
          <a:xfrm>
            <a:off x="735925" y="2961323"/>
            <a:ext cx="13158549" cy="336352"/>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Both use </a:t>
            </a:r>
            <a:pPr algn="l" indent="0" marL="0">
              <a:lnSpc>
                <a:spcPts val="2600"/>
              </a:lnSpc>
              <a:buNone/>
            </a:pPr>
            <a:r>
              <a:rPr lang="en-US" sz="1650" b="1" dirty="0">
                <a:solidFill>
                  <a:srgbClr val="2C2821"/>
                </a:solidFill>
                <a:latin typeface="Lora" pitchFamily="34" charset="0"/>
                <a:ea typeface="Lora" pitchFamily="34" charset="-122"/>
                <a:cs typeface="Lora" pitchFamily="34" charset="-120"/>
              </a:rPr>
              <a:t>cross-entropy loss</a:t>
            </a:r>
            <a:pPr algn="l" indent="0" marL="0">
              <a:lnSpc>
                <a:spcPts val="2600"/>
              </a:lnSpc>
              <a:buNone/>
            </a:pPr>
            <a:r>
              <a:rPr lang="en-US" sz="1650" dirty="0">
                <a:solidFill>
                  <a:srgbClr val="2C2821"/>
                </a:solidFill>
                <a:latin typeface="Lora" pitchFamily="34" charset="0"/>
                <a:ea typeface="Lora" pitchFamily="34" charset="-122"/>
                <a:cs typeface="Lora" pitchFamily="34" charset="-120"/>
              </a:rPr>
              <a:t>, a standard loss for classification problems.</a:t>
            </a:r>
            <a:endParaRPr lang="en-US" sz="1650" dirty="0"/>
          </a:p>
        </p:txBody>
      </p:sp>
      <p:sp>
        <p:nvSpPr>
          <p:cNvPr id="7" name="Text 5"/>
          <p:cNvSpPr/>
          <p:nvPr/>
        </p:nvSpPr>
        <p:spPr>
          <a:xfrm>
            <a:off x="735925" y="3534132"/>
            <a:ext cx="13158549" cy="336352"/>
          </a:xfrm>
          <a:prstGeom prst="rect">
            <a:avLst/>
          </a:prstGeom>
          <a:noFill/>
          <a:ln/>
        </p:spPr>
        <p:txBody>
          <a:bodyPr wrap="none" lIns="0" tIns="0" rIns="0" bIns="0" rtlCol="0" anchor="t"/>
          <a:lstStyle/>
          <a:p>
            <a:pPr algn="l" indent="0" marL="0">
              <a:lnSpc>
                <a:spcPts val="2600"/>
              </a:lnSpc>
              <a:buNone/>
            </a:pPr>
            <a:r>
              <a:rPr lang="en-US" sz="1650" b="1" dirty="0">
                <a:solidFill>
                  <a:srgbClr val="2C2821"/>
                </a:solidFill>
                <a:latin typeface="Lora" pitchFamily="34" charset="0"/>
                <a:ea typeface="Lora" pitchFamily="34" charset="-122"/>
                <a:cs typeface="Lora" pitchFamily="34" charset="-120"/>
              </a:rPr>
              <a:t>Combining the Losses</a:t>
            </a:r>
            <a:endParaRPr lang="en-US" sz="1650" dirty="0"/>
          </a:p>
        </p:txBody>
      </p:sp>
      <p:sp>
        <p:nvSpPr>
          <p:cNvPr id="8" name="Text 6"/>
          <p:cNvSpPr/>
          <p:nvPr/>
        </p:nvSpPr>
        <p:spPr>
          <a:xfrm>
            <a:off x="735925" y="4106942"/>
            <a:ext cx="13158549" cy="336352"/>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Rasa combines the two using this formula:</a:t>
            </a:r>
            <a:endParaRPr lang="en-US" sz="1650" dirty="0"/>
          </a:p>
        </p:txBody>
      </p:sp>
      <p:sp>
        <p:nvSpPr>
          <p:cNvPr id="9" name="Text 7"/>
          <p:cNvSpPr/>
          <p:nvPr/>
        </p:nvSpPr>
        <p:spPr>
          <a:xfrm>
            <a:off x="735925" y="4679752"/>
            <a:ext cx="13158549" cy="336352"/>
          </a:xfrm>
          <a:prstGeom prst="rect">
            <a:avLst/>
          </a:prstGeom>
          <a:noFill/>
          <a:ln/>
        </p:spPr>
        <p:txBody>
          <a:bodyPr wrap="none" lIns="0" tIns="0" rIns="0" bIns="0" rtlCol="0" anchor="t"/>
          <a:lstStyle/>
          <a:p>
            <a:pPr algn="l" indent="0" marL="0">
              <a:lnSpc>
                <a:spcPts val="2600"/>
              </a:lnSpc>
              <a:buNone/>
            </a:pPr>
            <a:r>
              <a:rPr lang="en-US" sz="1650" dirty="0">
                <a:solidFill>
                  <a:srgbClr val="2C2821"/>
                </a:solidFill>
                <a:latin typeface="Lora" pitchFamily="34" charset="0"/>
                <a:ea typeface="Lora" pitchFamily="34" charset="-122"/>
                <a:cs typeface="Lora" pitchFamily="34" charset="-120"/>
              </a:rPr>
              <a:t>Ltotal=λ⋅Lintent+(1−λ)⋅Lentity</a:t>
            </a:r>
            <a:endParaRPr lang="en-US" sz="1650" dirty="0"/>
          </a:p>
        </p:txBody>
      </p:sp>
      <p:sp>
        <p:nvSpPr>
          <p:cNvPr id="10" name="Text 8"/>
          <p:cNvSpPr/>
          <p:nvPr/>
        </p:nvSpPr>
        <p:spPr>
          <a:xfrm>
            <a:off x="735925" y="5252561"/>
            <a:ext cx="13158549" cy="336352"/>
          </a:xfrm>
          <a:prstGeom prst="rect">
            <a:avLst/>
          </a:prstGeom>
          <a:noFill/>
          <a:ln/>
        </p:spPr>
        <p:txBody>
          <a:bodyPr wrap="none" lIns="0" tIns="0" rIns="0" bIns="0" rtlCol="0" anchor="t"/>
          <a:lstStyle/>
          <a:p>
            <a:pPr algn="l" marL="342900" indent="-342900">
              <a:lnSpc>
                <a:spcPts val="2600"/>
              </a:lnSpc>
              <a:buSzPct val="100000"/>
              <a:buChar char="•"/>
            </a:pPr>
            <a:r>
              <a:rPr lang="en-US" sz="1650" b="1" dirty="0">
                <a:solidFill>
                  <a:srgbClr val="2C2821"/>
                </a:solidFill>
                <a:latin typeface="Lora" pitchFamily="34" charset="0"/>
                <a:ea typeface="Lora" pitchFamily="34" charset="-122"/>
                <a:cs typeface="Lora" pitchFamily="34" charset="-120"/>
              </a:rPr>
              <a:t>λ (lambda)</a:t>
            </a:r>
            <a:pPr algn="l" indent="0" marL="0">
              <a:lnSpc>
                <a:spcPts val="2600"/>
              </a:lnSpc>
              <a:buNone/>
            </a:pPr>
            <a:r>
              <a:rPr lang="en-US" sz="1650" dirty="0">
                <a:solidFill>
                  <a:srgbClr val="2C2821"/>
                </a:solidFill>
                <a:latin typeface="Lora" pitchFamily="34" charset="0"/>
                <a:ea typeface="Lora" pitchFamily="34" charset="-122"/>
                <a:cs typeface="Lora" pitchFamily="34" charset="-120"/>
              </a:rPr>
              <a:t>: a number between 0 and 1 that balances the two tasks.</a:t>
            </a:r>
            <a:endParaRPr lang="en-US" sz="1650" dirty="0"/>
          </a:p>
        </p:txBody>
      </p:sp>
      <p:sp>
        <p:nvSpPr>
          <p:cNvPr id="11" name="Text 9"/>
          <p:cNvSpPr/>
          <p:nvPr/>
        </p:nvSpPr>
        <p:spPr>
          <a:xfrm>
            <a:off x="735925" y="5662493"/>
            <a:ext cx="13158549" cy="336352"/>
          </a:xfrm>
          <a:prstGeom prst="rect">
            <a:avLst/>
          </a:prstGeom>
          <a:noFill/>
          <a:ln/>
        </p:spPr>
        <p:txBody>
          <a:bodyPr wrap="none" lIns="0" tIns="0" rIns="0" bIns="0" rtlCol="0" anchor="t"/>
          <a:lstStyle/>
          <a:p>
            <a:pPr algn="l" lvl="1" marL="6858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If </a:t>
            </a:r>
            <a:pPr algn="l" lvl="1" indent="0" marL="0">
              <a:lnSpc>
                <a:spcPts val="2600"/>
              </a:lnSpc>
              <a:buNone/>
            </a:pPr>
            <a:r>
              <a:rPr lang="en-US" sz="1650" dirty="0">
                <a:solidFill>
                  <a:srgbClr val="2C2821"/>
                </a:solidFill>
                <a:highlight>
                  <a:srgbClr val="D7F4E4"/>
                </a:highlight>
                <a:latin typeface="Consolas" pitchFamily="34" charset="0"/>
                <a:ea typeface="Consolas" pitchFamily="34" charset="-122"/>
                <a:cs typeface="Consolas" pitchFamily="34" charset="-120"/>
              </a:rPr>
              <a:t>λ = 0.7</a:t>
            </a:r>
            <a:pPr algn="l" lvl="1" indent="0" marL="0">
              <a:lnSpc>
                <a:spcPts val="2600"/>
              </a:lnSpc>
              <a:buNone/>
            </a:pPr>
            <a:r>
              <a:rPr lang="en-US" sz="1650" dirty="0">
                <a:solidFill>
                  <a:srgbClr val="2C2821"/>
                </a:solidFill>
                <a:latin typeface="Lora" pitchFamily="34" charset="0"/>
                <a:ea typeface="Lora" pitchFamily="34" charset="-122"/>
                <a:cs typeface="Lora" pitchFamily="34" charset="-120"/>
              </a:rPr>
              <a:t>, then 70% importance is given to intent prediction, and 30% to entity extraction.</a:t>
            </a:r>
            <a:endParaRPr lang="en-US" sz="1650" dirty="0"/>
          </a:p>
        </p:txBody>
      </p:sp>
      <p:sp>
        <p:nvSpPr>
          <p:cNvPr id="12" name="Text 10"/>
          <p:cNvSpPr/>
          <p:nvPr/>
        </p:nvSpPr>
        <p:spPr>
          <a:xfrm>
            <a:off x="735925" y="6072426"/>
            <a:ext cx="13158549" cy="336352"/>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The model </a:t>
            </a:r>
            <a:pPr algn="l" indent="0" marL="0">
              <a:lnSpc>
                <a:spcPts val="2600"/>
              </a:lnSpc>
              <a:buNone/>
            </a:pPr>
            <a:r>
              <a:rPr lang="en-US" sz="1650" b="1" dirty="0">
                <a:solidFill>
                  <a:srgbClr val="2C2821"/>
                </a:solidFill>
                <a:latin typeface="Lora" pitchFamily="34" charset="0"/>
                <a:ea typeface="Lora" pitchFamily="34" charset="-122"/>
                <a:cs typeface="Lora" pitchFamily="34" charset="-120"/>
              </a:rPr>
              <a:t>adjusts its weights</a:t>
            </a:r>
            <a:pPr algn="l" indent="0" marL="0">
              <a:lnSpc>
                <a:spcPts val="2600"/>
              </a:lnSpc>
              <a:buNone/>
            </a:pPr>
            <a:r>
              <a:rPr lang="en-US" sz="1650" dirty="0">
                <a:solidFill>
                  <a:srgbClr val="2C2821"/>
                </a:solidFill>
                <a:latin typeface="Lora" pitchFamily="34" charset="0"/>
                <a:ea typeface="Lora" pitchFamily="34" charset="-122"/>
                <a:cs typeface="Lora" pitchFamily="34" charset="-120"/>
              </a:rPr>
              <a:t> to reduce this total loss.</a:t>
            </a:r>
            <a:endParaRPr lang="en-US" sz="1650" dirty="0"/>
          </a:p>
        </p:txBody>
      </p:sp>
      <p:sp>
        <p:nvSpPr>
          <p:cNvPr id="13" name="Text 11"/>
          <p:cNvSpPr/>
          <p:nvPr/>
        </p:nvSpPr>
        <p:spPr>
          <a:xfrm>
            <a:off x="735925" y="6482358"/>
            <a:ext cx="13158549" cy="336352"/>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Over time, this makes it better at:</a:t>
            </a:r>
            <a:endParaRPr lang="en-US" sz="1650" dirty="0"/>
          </a:p>
        </p:txBody>
      </p:sp>
      <p:sp>
        <p:nvSpPr>
          <p:cNvPr id="14" name="Text 12"/>
          <p:cNvSpPr/>
          <p:nvPr/>
        </p:nvSpPr>
        <p:spPr>
          <a:xfrm>
            <a:off x="735925" y="6892290"/>
            <a:ext cx="13158549" cy="336352"/>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Predicting the right intent</a:t>
            </a:r>
            <a:endParaRPr lang="en-US" sz="1650" dirty="0"/>
          </a:p>
        </p:txBody>
      </p:sp>
      <p:sp>
        <p:nvSpPr>
          <p:cNvPr id="15" name="Text 13"/>
          <p:cNvSpPr/>
          <p:nvPr/>
        </p:nvSpPr>
        <p:spPr>
          <a:xfrm>
            <a:off x="735925" y="7302222"/>
            <a:ext cx="13158549" cy="336352"/>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C2821"/>
                </a:solidFill>
                <a:latin typeface="Lora" pitchFamily="34" charset="0"/>
                <a:ea typeface="Lora" pitchFamily="34" charset="-122"/>
                <a:cs typeface="Lora" pitchFamily="34" charset="-120"/>
              </a:rPr>
              <a:t>Recognizing the correct entities</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1437442"/>
            <a:ext cx="5467469" cy="425291"/>
          </a:xfrm>
          <a:prstGeom prst="rect">
            <a:avLst/>
          </a:prstGeom>
          <a:noFill/>
          <a:ln/>
        </p:spPr>
        <p:txBody>
          <a:bodyPr wrap="none" lIns="0" tIns="0" rIns="0" bIns="0" rtlCol="0" anchor="t"/>
          <a:lstStyle/>
          <a:p>
            <a:pPr algn="l" indent="0" marL="0">
              <a:lnSpc>
                <a:spcPts val="3300"/>
              </a:lnSpc>
              <a:buNone/>
            </a:pPr>
            <a:r>
              <a:rPr lang="en-US" sz="2650" b="1" dirty="0">
                <a:solidFill>
                  <a:srgbClr val="233E32"/>
                </a:solidFill>
                <a:latin typeface="Alice" pitchFamily="34" charset="0"/>
                <a:ea typeface="Alice" pitchFamily="34" charset="-122"/>
                <a:cs typeface="Alice" pitchFamily="34" charset="-120"/>
              </a:rPr>
              <a:t>Step 7: Paraphrasing the User Query</a:t>
            </a:r>
            <a:endParaRPr lang="en-US" sz="2650" dirty="0"/>
          </a:p>
        </p:txBody>
      </p:sp>
      <p:sp>
        <p:nvSpPr>
          <p:cNvPr id="3" name="Text 1"/>
          <p:cNvSpPr/>
          <p:nvPr/>
        </p:nvSpPr>
        <p:spPr>
          <a:xfrm>
            <a:off x="793790" y="2316361"/>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After the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intent is identified</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and the system decides what action to take,</a:t>
            </a:r>
            <a:endParaRPr lang="en-US" sz="1750" dirty="0"/>
          </a:p>
        </p:txBody>
      </p:sp>
      <p:sp>
        <p:nvSpPr>
          <p:cNvPr id="4" name="Text 2"/>
          <p:cNvSpPr/>
          <p:nvPr/>
        </p:nvSpPr>
        <p:spPr>
          <a:xfrm>
            <a:off x="793790" y="2758559"/>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The original query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q</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is passed into a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paraphrasing model</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like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T5</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(Text-to-Text Transfer Transformer).</a:t>
            </a:r>
            <a:endParaRPr lang="en-US" sz="1750" dirty="0"/>
          </a:p>
        </p:txBody>
      </p:sp>
      <p:sp>
        <p:nvSpPr>
          <p:cNvPr id="5" name="Text 3"/>
          <p:cNvSpPr/>
          <p:nvPr/>
        </p:nvSpPr>
        <p:spPr>
          <a:xfrm>
            <a:off x="793790" y="3208377"/>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The model generates a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new sentence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q′</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that has the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same semantic meaning</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but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different wording</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a:t>
            </a:r>
            <a:endParaRPr lang="en-US" sz="1750" dirty="0"/>
          </a:p>
        </p:txBody>
      </p:sp>
      <p:sp>
        <p:nvSpPr>
          <p:cNvPr id="6" name="Text 4"/>
          <p:cNvSpPr/>
          <p:nvPr/>
        </p:nvSpPr>
        <p:spPr>
          <a:xfrm>
            <a:off x="793790" y="383405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Lora" pitchFamily="34" charset="0"/>
                <a:ea typeface="Lora" pitchFamily="34" charset="-122"/>
                <a:cs typeface="Lora" pitchFamily="34" charset="-120"/>
              </a:rPr>
              <a: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Notation:</a:t>
            </a:r>
            <a:endParaRPr lang="en-US" sz="1750" dirty="0"/>
          </a:p>
        </p:txBody>
      </p:sp>
      <p:sp>
        <p:nvSpPr>
          <p:cNvPr id="7" name="Text 5"/>
          <p:cNvSpPr/>
          <p:nvPr/>
        </p:nvSpPr>
        <p:spPr>
          <a:xfrm>
            <a:off x="793790" y="4452104"/>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q′=Paraphrase(q)</a:t>
            </a:r>
            <a:endParaRPr lang="en-US" sz="1750" dirty="0"/>
          </a:p>
        </p:txBody>
      </p:sp>
      <p:sp>
        <p:nvSpPr>
          <p:cNvPr id="8" name="Text 6"/>
          <p:cNvSpPr/>
          <p:nvPr/>
        </p:nvSpPr>
        <p:spPr>
          <a:xfrm>
            <a:off x="793790" y="5070158"/>
            <a:ext cx="13042821" cy="73342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q</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Original user query</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i="1" dirty="0">
                <a:solidFill>
                  <a:srgbClr val="2C2821"/>
                </a:solidFill>
                <a:latin typeface="Lora" pitchFamily="34" charset="0"/>
                <a:ea typeface="Lora" pitchFamily="34" charset="-122"/>
                <a:cs typeface="Lora" pitchFamily="34" charset="-120"/>
              </a:rPr>
              <a:t>Example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“I have a headache and fever”</a:t>
            </a:r>
            <a:endParaRPr lang="en-US" sz="1750" dirty="0"/>
          </a:p>
        </p:txBody>
      </p:sp>
      <p:sp>
        <p:nvSpPr>
          <p:cNvPr id="9" name="Text 7"/>
          <p:cNvSpPr/>
          <p:nvPr/>
        </p:nvSpPr>
        <p:spPr>
          <a:xfrm>
            <a:off x="793790" y="6058733"/>
            <a:ext cx="13042821" cy="73342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q′</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Paraphrased query</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i="1" dirty="0">
                <a:solidFill>
                  <a:srgbClr val="2C2821"/>
                </a:solidFill>
                <a:latin typeface="Lora" pitchFamily="34" charset="0"/>
                <a:ea typeface="Lora" pitchFamily="34" charset="-122"/>
                <a:cs typeface="Lora" pitchFamily="34" charset="-120"/>
              </a:rPr>
              <a:t>Example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“I’m experiencing fever and a headache”</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2021443"/>
            <a:ext cx="6426756" cy="425291"/>
          </a:xfrm>
          <a:prstGeom prst="rect">
            <a:avLst/>
          </a:prstGeom>
          <a:noFill/>
          <a:ln/>
        </p:spPr>
        <p:txBody>
          <a:bodyPr wrap="none" lIns="0" tIns="0" rIns="0" bIns="0" rtlCol="0" anchor="t"/>
          <a:lstStyle/>
          <a:p>
            <a:pPr algn="l" indent="0" marL="0">
              <a:lnSpc>
                <a:spcPts val="3300"/>
              </a:lnSpc>
              <a:buNone/>
            </a:pPr>
            <a:r>
              <a:rPr lang="en-US" sz="2650" b="1" dirty="0">
                <a:solidFill>
                  <a:srgbClr val="233E32"/>
                </a:solidFill>
                <a:latin typeface="Alice" pitchFamily="34" charset="0"/>
                <a:ea typeface="Alice" pitchFamily="34" charset="-122"/>
                <a:cs typeface="Alice" pitchFamily="34" charset="-120"/>
              </a:rPr>
              <a:t>Step 8: Embedding the Paraphrased Query</a:t>
            </a:r>
            <a:endParaRPr lang="en-US" sz="2650" dirty="0"/>
          </a:p>
        </p:txBody>
      </p:sp>
      <p:sp>
        <p:nvSpPr>
          <p:cNvPr id="3" name="Text 1"/>
          <p:cNvSpPr/>
          <p:nvPr/>
        </p:nvSpPr>
        <p:spPr>
          <a:xfrm>
            <a:off x="793790" y="2900363"/>
            <a:ext cx="13042821" cy="37052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paraphrased query</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q′</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is passed into an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embedding model</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such as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gtr-t5-base</a:t>
            </a:r>
            <a:endParaRPr lang="en-US" sz="1750" dirty="0"/>
          </a:p>
        </p:txBody>
      </p:sp>
      <p:sp>
        <p:nvSpPr>
          <p:cNvPr id="4" name="Text 2"/>
          <p:cNvSpPr/>
          <p:nvPr/>
        </p:nvSpPr>
        <p:spPr>
          <a:xfrm>
            <a:off x="793790" y="3526036"/>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The model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encodes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the meaning of the entire sentence into a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dense vector</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t>
            </a:r>
            <a:pPr algn="l" indent="0" marL="0">
              <a:lnSpc>
                <a:spcPts val="2850"/>
              </a:lnSpc>
              <a:buNone/>
            </a:pPr>
            <a:r>
              <a:rPr lang="en-US" sz="1750" dirty="0">
                <a:solidFill>
                  <a:srgbClr val="2C2821"/>
                </a:solidFill>
                <a:highlight>
                  <a:srgbClr val="D7F4E4"/>
                </a:highlight>
                <a:latin typeface="Consolas" pitchFamily="34" charset="0"/>
                <a:ea typeface="Consolas" pitchFamily="34" charset="-122"/>
                <a:cs typeface="Consolas" pitchFamily="34" charset="-120"/>
              </a:rPr>
              <a:t>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a:t>
            </a:r>
            <a:endParaRPr lang="en-US" sz="1750" dirty="0"/>
          </a:p>
        </p:txBody>
      </p:sp>
      <p:sp>
        <p:nvSpPr>
          <p:cNvPr id="5" name="Text 3"/>
          <p:cNvSpPr/>
          <p:nvPr/>
        </p:nvSpPr>
        <p:spPr>
          <a:xfrm>
            <a:off x="793790" y="4151709"/>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Formula Representation:</a:t>
            </a:r>
            <a:endParaRPr lang="en-US" sz="1750" dirty="0"/>
          </a:p>
        </p:txBody>
      </p:sp>
      <p:sp>
        <p:nvSpPr>
          <p:cNvPr id="6" name="Text 4"/>
          <p:cNvSpPr/>
          <p:nvPr/>
        </p:nvSpPr>
        <p:spPr>
          <a:xfrm>
            <a:off x="793790" y="476976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              s=Embed(q′)</a:t>
            </a:r>
            <a:endParaRPr lang="en-US" sz="1750" dirty="0"/>
          </a:p>
        </p:txBody>
      </p:sp>
      <p:sp>
        <p:nvSpPr>
          <p:cNvPr id="7" name="Text 5"/>
          <p:cNvSpPr/>
          <p:nvPr/>
        </p:nvSpPr>
        <p:spPr>
          <a:xfrm>
            <a:off x="793790" y="5387816"/>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highlight>
                  <a:srgbClr val="D7F4E4"/>
                </a:highlight>
                <a:latin typeface="Consolas" pitchFamily="34" charset="0"/>
                <a:ea typeface="Consolas" pitchFamily="34" charset="-122"/>
                <a:cs typeface="Consolas" pitchFamily="34" charset="-120"/>
              </a:rPr>
              <a:t>q′</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Paraphrased sentence (e.g., “I’m experiencing fever and a headache”)</a:t>
            </a:r>
            <a:endParaRPr lang="en-US" sz="1750" dirty="0"/>
          </a:p>
        </p:txBody>
      </p:sp>
      <p:sp>
        <p:nvSpPr>
          <p:cNvPr id="8" name="Text 6"/>
          <p:cNvSpPr/>
          <p:nvPr/>
        </p:nvSpPr>
        <p:spPr>
          <a:xfrm>
            <a:off x="793790" y="5837634"/>
            <a:ext cx="13042821" cy="37052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highlight>
                  <a:srgbClr val="D7F4E4"/>
                </a:highlight>
                <a:latin typeface="Consolas" pitchFamily="34" charset="0"/>
                <a:ea typeface="Consolas" pitchFamily="34" charset="-122"/>
                <a:cs typeface="Consolas" pitchFamily="34" charset="-120"/>
              </a:rPr>
              <a:t>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Sentence embedding — a vector that captures the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semantic meaning</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of the sentence.</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1801297"/>
            <a:ext cx="5489853" cy="425291"/>
          </a:xfrm>
          <a:prstGeom prst="rect">
            <a:avLst/>
          </a:prstGeom>
          <a:noFill/>
          <a:ln/>
        </p:spPr>
        <p:txBody>
          <a:bodyPr wrap="none" lIns="0" tIns="0" rIns="0" bIns="0" rtlCol="0" anchor="t"/>
          <a:lstStyle/>
          <a:p>
            <a:pPr algn="l" indent="0" marL="0">
              <a:lnSpc>
                <a:spcPts val="3300"/>
              </a:lnSpc>
              <a:buNone/>
            </a:pPr>
            <a:r>
              <a:rPr lang="en-US" sz="2650" b="1" dirty="0">
                <a:solidFill>
                  <a:srgbClr val="233E32"/>
                </a:solidFill>
                <a:latin typeface="Alice" pitchFamily="34" charset="0"/>
                <a:ea typeface="Alice" pitchFamily="34" charset="-122"/>
                <a:cs typeface="Alice" pitchFamily="34" charset="-120"/>
              </a:rPr>
              <a:t>Step 9: Computing Cosine Similarity</a:t>
            </a:r>
            <a:endParaRPr lang="en-US" sz="2650" dirty="0"/>
          </a:p>
        </p:txBody>
      </p:sp>
      <p:sp>
        <p:nvSpPr>
          <p:cNvPr id="3" name="Text 1"/>
          <p:cNvSpPr/>
          <p:nvPr/>
        </p:nvSpPr>
        <p:spPr>
          <a:xfrm>
            <a:off x="793790" y="2680216"/>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Now that you have the embeddings for both the user’s paraphrased query s and each remedy key ri embedded previously​, you need to compute the cosine similarity between them. Cosine similarity is used to measure the similarity between two vectors based on their direction, not their magnitude. </a:t>
            </a:r>
            <a:endParaRPr lang="en-US" sz="1750" dirty="0"/>
          </a:p>
        </p:txBody>
      </p:sp>
      <p:sp>
        <p:nvSpPr>
          <p:cNvPr id="4" name="Text 2"/>
          <p:cNvSpPr/>
          <p:nvPr/>
        </p:nvSpPr>
        <p:spPr>
          <a:xfrm>
            <a:off x="793790" y="4024074"/>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cosine_sim(s,ri)= s⋅ri / ∥s∥⋅∥ri∥</a:t>
            </a:r>
            <a:endParaRPr lang="en-US" sz="1750" dirty="0"/>
          </a:p>
        </p:txBody>
      </p:sp>
      <p:sp>
        <p:nvSpPr>
          <p:cNvPr id="5" name="Text 3"/>
          <p:cNvSpPr/>
          <p:nvPr/>
        </p:nvSpPr>
        <p:spPr>
          <a:xfrm>
            <a:off x="793790" y="4642128"/>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Where . is the dot product between the two vectors s and ri​, ∥s∥ and ∥ri∥ are the magnitudes (norms) of the vectors s and ri​, respectively.</a:t>
            </a:r>
            <a:endParaRPr lang="en-US" sz="1750" dirty="0"/>
          </a:p>
        </p:txBody>
      </p:sp>
      <p:sp>
        <p:nvSpPr>
          <p:cNvPr id="6" name="Text 4"/>
          <p:cNvSpPr/>
          <p:nvPr/>
        </p:nvSpPr>
        <p:spPr>
          <a:xfrm>
            <a:off x="793790" y="5623084"/>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Cosine similarity</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is ideal because it measures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directional similarity</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regardless of vector magnitude.</a:t>
            </a:r>
            <a:endParaRPr lang="en-US" sz="1750" dirty="0"/>
          </a:p>
        </p:txBody>
      </p:sp>
      <p:sp>
        <p:nvSpPr>
          <p:cNvPr id="7" name="Text 5"/>
          <p:cNvSpPr/>
          <p:nvPr/>
        </p:nvSpPr>
        <p:spPr>
          <a:xfrm>
            <a:off x="793790" y="6065282"/>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It helps find how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semantically similar</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the query is to the remedy without worrying about the length of the vectors.</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178153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Key Features</a:t>
            </a:r>
            <a:endParaRPr lang="en-US" sz="4450" dirty="0"/>
          </a:p>
        </p:txBody>
      </p:sp>
      <p:sp>
        <p:nvSpPr>
          <p:cNvPr id="3" name="Text 1"/>
          <p:cNvSpPr/>
          <p:nvPr/>
        </p:nvSpPr>
        <p:spPr>
          <a:xfrm>
            <a:off x="793790" y="2943939"/>
            <a:ext cx="13042821"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1"/>
            </a:pPr>
            <a:r>
              <a:rPr lang="en-US" sz="1750" b="1" dirty="0">
                <a:solidFill>
                  <a:srgbClr val="2C2821"/>
                </a:solidFill>
                <a:latin typeface="Lora" pitchFamily="34" charset="0"/>
                <a:ea typeface="Lora" pitchFamily="34" charset="-122"/>
                <a:cs typeface="Lora" pitchFamily="34" charset="-120"/>
              </a:rPr>
              <a:t>Voice Feature: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We have used the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Web Speech API</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to handle audio interactions, enabling both voice input from the user and voice responses from the system.</a:t>
            </a:r>
            <a:endParaRPr lang="en-US" sz="1750" dirty="0"/>
          </a:p>
        </p:txBody>
      </p:sp>
      <p:sp>
        <p:nvSpPr>
          <p:cNvPr id="4" name="Text 2"/>
          <p:cNvSpPr/>
          <p:nvPr/>
        </p:nvSpPr>
        <p:spPr>
          <a:xfrm>
            <a:off x="793790" y="3749040"/>
            <a:ext cx="13042821"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2"/>
            </a:pPr>
            <a:r>
              <a:rPr lang="en-US" sz="1750" b="1" dirty="0">
                <a:solidFill>
                  <a:srgbClr val="2C2821"/>
                </a:solidFill>
                <a:latin typeface="Lora" pitchFamily="34" charset="0"/>
                <a:ea typeface="Lora" pitchFamily="34" charset="-122"/>
                <a:cs typeface="Lora" pitchFamily="34" charset="-120"/>
              </a:rPr>
              <a:t>Ingredient Links: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A curated dataset was created containing a list of ingredients along with their corresponding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Wikipedia links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This dataset is used to extract ingredients from the remedies and provide informative links to the user.</a:t>
            </a:r>
            <a:endParaRPr lang="en-US" sz="1750" dirty="0"/>
          </a:p>
        </p:txBody>
      </p:sp>
      <p:sp>
        <p:nvSpPr>
          <p:cNvPr id="5" name="Text 3"/>
          <p:cNvSpPr/>
          <p:nvPr/>
        </p:nvSpPr>
        <p:spPr>
          <a:xfrm>
            <a:off x="793790" y="4554141"/>
            <a:ext cx="13042821" cy="725805"/>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3"/>
            </a:pPr>
            <a:r>
              <a:rPr lang="en-US" sz="1750" b="1" dirty="0">
                <a:solidFill>
                  <a:srgbClr val="2C2821"/>
                </a:solidFill>
                <a:latin typeface="Lora" pitchFamily="34" charset="0"/>
                <a:ea typeface="Lora" pitchFamily="34" charset="-122"/>
                <a:cs typeface="Lora" pitchFamily="34" charset="-120"/>
              </a:rPr>
              <a:t>Generalized Health Schedules: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We utilized the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Gemini API</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to generate personalized 7-day health schedules based on the user's reported health issues.</a:t>
            </a:r>
            <a:endParaRPr lang="en-US" sz="1750" dirty="0"/>
          </a:p>
        </p:txBody>
      </p:sp>
      <p:sp>
        <p:nvSpPr>
          <p:cNvPr id="6" name="Text 4"/>
          <p:cNvSpPr/>
          <p:nvPr/>
        </p:nvSpPr>
        <p:spPr>
          <a:xfrm>
            <a:off x="793790" y="5359241"/>
            <a:ext cx="13042821" cy="1088708"/>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4"/>
            </a:pPr>
            <a:r>
              <a:rPr lang="en-US" sz="1750" b="1" dirty="0">
                <a:solidFill>
                  <a:srgbClr val="2C2821"/>
                </a:solidFill>
                <a:latin typeface="Lora" pitchFamily="34" charset="0"/>
                <a:ea typeface="Lora" pitchFamily="34" charset="-122"/>
                <a:cs typeface="Lora" pitchFamily="34" charset="-120"/>
              </a:rPr>
              <a:t>Feedback and Suggestions:  </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Due to the limited size of our dataset, we encourage users to contribute suggestions for remedies. These suggestions are stored in the database and can be viewed on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admin dashboard</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allowing the admin to review, validate, and integrate them into the </a:t>
            </a:r>
            <a:pPr algn="l" indent="0" marL="0">
              <a:lnSpc>
                <a:spcPts val="2850"/>
              </a:lnSpc>
              <a:buNone/>
            </a:pPr>
            <a:r>
              <a:rPr lang="en-US" sz="1750" b="1" dirty="0">
                <a:solidFill>
                  <a:srgbClr val="2C2821"/>
                </a:solidFill>
                <a:latin typeface="Lora" pitchFamily="34" charset="0"/>
                <a:ea typeface="Lora" pitchFamily="34" charset="-122"/>
                <a:cs typeface="Lora" pitchFamily="34" charset="-120"/>
              </a:rPr>
              <a:t>Rasa chatbot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for future training.</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32115" y="576501"/>
            <a:ext cx="5229939" cy="653772"/>
          </a:xfrm>
          <a:prstGeom prst="rect">
            <a:avLst/>
          </a:prstGeom>
          <a:noFill/>
          <a:ln/>
        </p:spPr>
        <p:txBody>
          <a:bodyPr wrap="none" lIns="0" tIns="0" rIns="0" bIns="0" rtlCol="0" anchor="t"/>
          <a:lstStyle/>
          <a:p>
            <a:pPr algn="l" indent="0" marL="0">
              <a:lnSpc>
                <a:spcPts val="5100"/>
              </a:lnSpc>
              <a:buNone/>
            </a:pPr>
            <a:r>
              <a:rPr lang="en-US" sz="4100" dirty="0">
                <a:solidFill>
                  <a:srgbClr val="233E32"/>
                </a:solidFill>
                <a:latin typeface="Alice" pitchFamily="34" charset="0"/>
                <a:ea typeface="Alice" pitchFamily="34" charset="-122"/>
                <a:cs typeface="Alice" pitchFamily="34" charset="-120"/>
              </a:rPr>
              <a:t>Results</a:t>
            </a:r>
            <a:endParaRPr lang="en-US" sz="4100" dirty="0"/>
          </a:p>
        </p:txBody>
      </p:sp>
      <p:pic>
        <p:nvPicPr>
          <p:cNvPr id="3" name="Image 0" descr="preencoded.png">    </p:cNvPr>
          <p:cNvPicPr>
            <a:picLocks noChangeAspect="1"/>
          </p:cNvPicPr>
          <p:nvPr/>
        </p:nvPicPr>
        <p:blipFill>
          <a:blip r:embed="rId1"/>
          <a:stretch>
            <a:fillRect/>
          </a:stretch>
        </p:blipFill>
        <p:spPr>
          <a:xfrm>
            <a:off x="2794159" y="1648658"/>
            <a:ext cx="9042083" cy="4487942"/>
          </a:xfrm>
          <a:prstGeom prst="rect">
            <a:avLst/>
          </a:prstGeom>
        </p:spPr>
      </p:pic>
      <p:sp>
        <p:nvSpPr>
          <p:cNvPr id="4" name="Text 1"/>
          <p:cNvSpPr/>
          <p:nvPr/>
        </p:nvSpPr>
        <p:spPr>
          <a:xfrm>
            <a:off x="732115" y="6371868"/>
            <a:ext cx="13166169" cy="334685"/>
          </a:xfrm>
          <a:prstGeom prst="rect">
            <a:avLst/>
          </a:prstGeom>
          <a:noFill/>
          <a:ln/>
        </p:spPr>
        <p:txBody>
          <a:bodyPr wrap="none" lIns="0" tIns="0" rIns="0" bIns="0" rtlCol="0" anchor="t"/>
          <a:lstStyle/>
          <a:p>
            <a:pPr algn="l" indent="0" marL="0">
              <a:lnSpc>
                <a:spcPts val="2600"/>
              </a:lnSpc>
              <a:buNone/>
            </a:pPr>
            <a:endParaRPr lang="en-US" sz="1600" dirty="0"/>
          </a:p>
        </p:txBody>
      </p:sp>
      <p:sp>
        <p:nvSpPr>
          <p:cNvPr id="5" name="Text 2"/>
          <p:cNvSpPr/>
          <p:nvPr/>
        </p:nvSpPr>
        <p:spPr>
          <a:xfrm>
            <a:off x="732115" y="7130058"/>
            <a:ext cx="6327934" cy="334685"/>
          </a:xfrm>
          <a:prstGeom prst="rect">
            <a:avLst/>
          </a:prstGeom>
          <a:noFill/>
          <a:ln/>
        </p:spPr>
        <p:txBody>
          <a:bodyPr wrap="none" lIns="0" tIns="0" rIns="0" bIns="0" rtlCol="0" anchor="t"/>
          <a:lstStyle/>
          <a:p>
            <a:pPr algn="l" indent="0" marL="0">
              <a:lnSpc>
                <a:spcPts val="2600"/>
              </a:lnSpc>
              <a:buNone/>
            </a:pPr>
            <a:endParaRPr lang="en-US" sz="1600" dirty="0"/>
          </a:p>
        </p:txBody>
      </p:sp>
      <p:sp>
        <p:nvSpPr>
          <p:cNvPr id="6" name="Text 3"/>
          <p:cNvSpPr/>
          <p:nvPr/>
        </p:nvSpPr>
        <p:spPr>
          <a:xfrm>
            <a:off x="7577971" y="7130058"/>
            <a:ext cx="6327934" cy="334685"/>
          </a:xfrm>
          <a:prstGeom prst="rect">
            <a:avLst/>
          </a:prstGeom>
          <a:noFill/>
          <a:ln/>
        </p:spPr>
        <p:txBody>
          <a:bodyPr wrap="none" lIns="0" tIns="0" rIns="0" bIns="0" rtlCol="0" anchor="t"/>
          <a:lstStyle/>
          <a:p>
            <a:pPr algn="l" indent="0" marL="0">
              <a:lnSpc>
                <a:spcPts val="2600"/>
              </a:lnSpc>
              <a:buNone/>
            </a:pP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980253" y="1824871"/>
            <a:ext cx="8669774" cy="457973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104430" y="1842611"/>
            <a:ext cx="10421422" cy="454425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766060" y="1784152"/>
            <a:ext cx="9098280" cy="466117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2112050"/>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pic>
        <p:nvPicPr>
          <p:cNvPr id="3" name="Image 0" descr="preencoded.png">    </p:cNvPr>
          <p:cNvPicPr>
            <a:picLocks noChangeAspect="1"/>
          </p:cNvPicPr>
          <p:nvPr/>
        </p:nvPicPr>
        <p:blipFill>
          <a:blip r:embed="rId1"/>
          <a:stretch>
            <a:fillRect/>
          </a:stretch>
        </p:blipFill>
        <p:spPr>
          <a:xfrm>
            <a:off x="793790" y="2985254"/>
            <a:ext cx="6244709" cy="3081218"/>
          </a:xfrm>
          <a:prstGeom prst="rect">
            <a:avLst/>
          </a:prstGeom>
        </p:spPr>
      </p:pic>
      <p:pic>
        <p:nvPicPr>
          <p:cNvPr id="4" name="Image 1" descr="preencoded.png">    </p:cNvPr>
          <p:cNvPicPr>
            <a:picLocks noChangeAspect="1"/>
          </p:cNvPicPr>
          <p:nvPr/>
        </p:nvPicPr>
        <p:blipFill>
          <a:blip r:embed="rId2"/>
          <a:stretch>
            <a:fillRect/>
          </a:stretch>
        </p:blipFill>
        <p:spPr>
          <a:xfrm>
            <a:off x="7599521" y="2985254"/>
            <a:ext cx="6244709" cy="305133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862387" y="1488758"/>
            <a:ext cx="6905625" cy="525196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631037"/>
            <a:ext cx="10565130" cy="496740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93790" y="222527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Evaluation Metrics</a:t>
            </a:r>
            <a:endParaRPr lang="en-US" sz="4450" dirty="0"/>
          </a:p>
        </p:txBody>
      </p:sp>
      <p:sp>
        <p:nvSpPr>
          <p:cNvPr id="3" name="Shape 1"/>
          <p:cNvSpPr/>
          <p:nvPr/>
        </p:nvSpPr>
        <p:spPr>
          <a:xfrm>
            <a:off x="793790" y="3387685"/>
            <a:ext cx="13042821" cy="2616518"/>
          </a:xfrm>
          <a:prstGeom prst="roundRect">
            <a:avLst>
              <a:gd name="adj" fmla="val 1300"/>
            </a:avLst>
          </a:prstGeom>
          <a:noFill/>
          <a:ln w="7620">
            <a:solidFill>
              <a:srgbClr val="000000">
                <a:alpha val="8000"/>
              </a:srgbClr>
            </a:solidFill>
            <a:prstDash val="solid"/>
          </a:ln>
        </p:spPr>
      </p:sp>
      <p:sp>
        <p:nvSpPr>
          <p:cNvPr id="4" name="Shape 2"/>
          <p:cNvSpPr/>
          <p:nvPr/>
        </p:nvSpPr>
        <p:spPr>
          <a:xfrm>
            <a:off x="801410" y="3395305"/>
            <a:ext cx="13030081" cy="650319"/>
          </a:xfrm>
          <a:prstGeom prst="rect">
            <a:avLst/>
          </a:prstGeom>
          <a:solidFill>
            <a:srgbClr val="FFFFFF">
              <a:alpha val="4000"/>
            </a:srgbClr>
          </a:solidFill>
          <a:ln/>
        </p:spPr>
      </p:sp>
      <p:sp>
        <p:nvSpPr>
          <p:cNvPr id="5" name="Text 3"/>
          <p:cNvSpPr/>
          <p:nvPr/>
        </p:nvSpPr>
        <p:spPr>
          <a:xfrm>
            <a:off x="1028819" y="3539014"/>
            <a:ext cx="171414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Metric Type</a:t>
            </a:r>
            <a:endParaRPr lang="en-US" sz="1750" dirty="0"/>
          </a:p>
        </p:txBody>
      </p:sp>
      <p:sp>
        <p:nvSpPr>
          <p:cNvPr id="6" name="Text 4"/>
          <p:cNvSpPr/>
          <p:nvPr/>
        </p:nvSpPr>
        <p:spPr>
          <a:xfrm>
            <a:off x="3204210" y="3539014"/>
            <a:ext cx="171033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Precision</a:t>
            </a:r>
            <a:endParaRPr lang="en-US" sz="1750" dirty="0"/>
          </a:p>
        </p:txBody>
      </p:sp>
      <p:sp>
        <p:nvSpPr>
          <p:cNvPr id="7" name="Text 5"/>
          <p:cNvSpPr/>
          <p:nvPr/>
        </p:nvSpPr>
        <p:spPr>
          <a:xfrm>
            <a:off x="5375791" y="3539014"/>
            <a:ext cx="171033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Recall</a:t>
            </a:r>
            <a:endParaRPr lang="en-US" sz="1750" dirty="0"/>
          </a:p>
        </p:txBody>
      </p:sp>
      <p:sp>
        <p:nvSpPr>
          <p:cNvPr id="8" name="Text 6"/>
          <p:cNvSpPr/>
          <p:nvPr/>
        </p:nvSpPr>
        <p:spPr>
          <a:xfrm>
            <a:off x="7547372" y="3539014"/>
            <a:ext cx="171033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F1-Score</a:t>
            </a:r>
            <a:endParaRPr lang="en-US" sz="1750" dirty="0"/>
          </a:p>
        </p:txBody>
      </p:sp>
      <p:sp>
        <p:nvSpPr>
          <p:cNvPr id="9" name="Text 7"/>
          <p:cNvSpPr/>
          <p:nvPr/>
        </p:nvSpPr>
        <p:spPr>
          <a:xfrm>
            <a:off x="9718953" y="3539014"/>
            <a:ext cx="171033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Support</a:t>
            </a:r>
            <a:endParaRPr lang="en-US" sz="1750" dirty="0"/>
          </a:p>
        </p:txBody>
      </p:sp>
      <p:sp>
        <p:nvSpPr>
          <p:cNvPr id="10" name="Text 8"/>
          <p:cNvSpPr/>
          <p:nvPr/>
        </p:nvSpPr>
        <p:spPr>
          <a:xfrm>
            <a:off x="11890534" y="3539014"/>
            <a:ext cx="171414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Accuracy</a:t>
            </a:r>
            <a:endParaRPr lang="en-US" sz="1750" dirty="0"/>
          </a:p>
        </p:txBody>
      </p:sp>
      <p:sp>
        <p:nvSpPr>
          <p:cNvPr id="11" name="Shape 9"/>
          <p:cNvSpPr/>
          <p:nvPr/>
        </p:nvSpPr>
        <p:spPr>
          <a:xfrm>
            <a:off x="801410" y="4045625"/>
            <a:ext cx="13030081" cy="650319"/>
          </a:xfrm>
          <a:prstGeom prst="rect">
            <a:avLst/>
          </a:prstGeom>
          <a:solidFill>
            <a:srgbClr val="000000">
              <a:alpha val="4000"/>
            </a:srgbClr>
          </a:solidFill>
          <a:ln/>
        </p:spPr>
      </p:sp>
      <p:sp>
        <p:nvSpPr>
          <p:cNvPr id="12" name="Text 10"/>
          <p:cNvSpPr/>
          <p:nvPr/>
        </p:nvSpPr>
        <p:spPr>
          <a:xfrm>
            <a:off x="1028819" y="4189333"/>
            <a:ext cx="171414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Entity</a:t>
            </a:r>
            <a:endParaRPr lang="en-US" sz="1750" dirty="0"/>
          </a:p>
        </p:txBody>
      </p:sp>
      <p:sp>
        <p:nvSpPr>
          <p:cNvPr id="13" name="Text 11"/>
          <p:cNvSpPr/>
          <p:nvPr/>
        </p:nvSpPr>
        <p:spPr>
          <a:xfrm>
            <a:off x="3204210" y="418933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1.0</a:t>
            </a:r>
            <a:endParaRPr lang="en-US" sz="1750" dirty="0"/>
          </a:p>
        </p:txBody>
      </p:sp>
      <p:sp>
        <p:nvSpPr>
          <p:cNvPr id="14" name="Text 12"/>
          <p:cNvSpPr/>
          <p:nvPr/>
        </p:nvSpPr>
        <p:spPr>
          <a:xfrm>
            <a:off x="5375791" y="418933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1.0</a:t>
            </a:r>
            <a:endParaRPr lang="en-US" sz="1750" dirty="0"/>
          </a:p>
        </p:txBody>
      </p:sp>
      <p:sp>
        <p:nvSpPr>
          <p:cNvPr id="15" name="Text 13"/>
          <p:cNvSpPr/>
          <p:nvPr/>
        </p:nvSpPr>
        <p:spPr>
          <a:xfrm>
            <a:off x="7547372" y="418933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1.0</a:t>
            </a:r>
            <a:endParaRPr lang="en-US" sz="1750" dirty="0"/>
          </a:p>
        </p:txBody>
      </p:sp>
      <p:sp>
        <p:nvSpPr>
          <p:cNvPr id="16" name="Text 14"/>
          <p:cNvSpPr/>
          <p:nvPr/>
        </p:nvSpPr>
        <p:spPr>
          <a:xfrm>
            <a:off x="9718953" y="418933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39</a:t>
            </a:r>
            <a:endParaRPr lang="en-US" sz="1750" dirty="0"/>
          </a:p>
        </p:txBody>
      </p:sp>
      <p:sp>
        <p:nvSpPr>
          <p:cNvPr id="17" name="Text 15"/>
          <p:cNvSpPr/>
          <p:nvPr/>
        </p:nvSpPr>
        <p:spPr>
          <a:xfrm>
            <a:off x="11890534" y="4189333"/>
            <a:ext cx="171414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1.0</a:t>
            </a:r>
            <a:endParaRPr lang="en-US" sz="1750" dirty="0"/>
          </a:p>
        </p:txBody>
      </p:sp>
      <p:sp>
        <p:nvSpPr>
          <p:cNvPr id="18" name="Shape 16"/>
          <p:cNvSpPr/>
          <p:nvPr/>
        </p:nvSpPr>
        <p:spPr>
          <a:xfrm>
            <a:off x="801410" y="4695944"/>
            <a:ext cx="13030081" cy="650319"/>
          </a:xfrm>
          <a:prstGeom prst="rect">
            <a:avLst/>
          </a:prstGeom>
          <a:solidFill>
            <a:srgbClr val="FFFFFF">
              <a:alpha val="4000"/>
            </a:srgbClr>
          </a:solidFill>
          <a:ln/>
        </p:spPr>
      </p:sp>
      <p:sp>
        <p:nvSpPr>
          <p:cNvPr id="19" name="Text 17"/>
          <p:cNvSpPr/>
          <p:nvPr/>
        </p:nvSpPr>
        <p:spPr>
          <a:xfrm>
            <a:off x="1028819" y="4839653"/>
            <a:ext cx="171414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Intent</a:t>
            </a:r>
            <a:endParaRPr lang="en-US" sz="1750" dirty="0"/>
          </a:p>
        </p:txBody>
      </p:sp>
      <p:sp>
        <p:nvSpPr>
          <p:cNvPr id="20" name="Text 18"/>
          <p:cNvSpPr/>
          <p:nvPr/>
        </p:nvSpPr>
        <p:spPr>
          <a:xfrm>
            <a:off x="3204210" y="483965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0.9843</a:t>
            </a:r>
            <a:endParaRPr lang="en-US" sz="1750" dirty="0"/>
          </a:p>
        </p:txBody>
      </p:sp>
      <p:sp>
        <p:nvSpPr>
          <p:cNvPr id="21" name="Text 19"/>
          <p:cNvSpPr/>
          <p:nvPr/>
        </p:nvSpPr>
        <p:spPr>
          <a:xfrm>
            <a:off x="5375791" y="483965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0.9839</a:t>
            </a:r>
            <a:endParaRPr lang="en-US" sz="1750" dirty="0"/>
          </a:p>
        </p:txBody>
      </p:sp>
      <p:sp>
        <p:nvSpPr>
          <p:cNvPr id="22" name="Text 20"/>
          <p:cNvSpPr/>
          <p:nvPr/>
        </p:nvSpPr>
        <p:spPr>
          <a:xfrm>
            <a:off x="7547372" y="483965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0.9839</a:t>
            </a:r>
            <a:endParaRPr lang="en-US" sz="1750" dirty="0"/>
          </a:p>
        </p:txBody>
      </p:sp>
      <p:sp>
        <p:nvSpPr>
          <p:cNvPr id="23" name="Text 21"/>
          <p:cNvSpPr/>
          <p:nvPr/>
        </p:nvSpPr>
        <p:spPr>
          <a:xfrm>
            <a:off x="9718953" y="4839653"/>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373</a:t>
            </a:r>
            <a:endParaRPr lang="en-US" sz="1750" dirty="0"/>
          </a:p>
        </p:txBody>
      </p:sp>
      <p:sp>
        <p:nvSpPr>
          <p:cNvPr id="24" name="Text 22"/>
          <p:cNvSpPr/>
          <p:nvPr/>
        </p:nvSpPr>
        <p:spPr>
          <a:xfrm>
            <a:off x="11890534" y="4839653"/>
            <a:ext cx="171414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0.9839</a:t>
            </a:r>
            <a:endParaRPr lang="en-US" sz="1750" dirty="0"/>
          </a:p>
        </p:txBody>
      </p:sp>
      <p:sp>
        <p:nvSpPr>
          <p:cNvPr id="25" name="Shape 23"/>
          <p:cNvSpPr/>
          <p:nvPr/>
        </p:nvSpPr>
        <p:spPr>
          <a:xfrm>
            <a:off x="801410" y="5346263"/>
            <a:ext cx="13030081" cy="650319"/>
          </a:xfrm>
          <a:prstGeom prst="rect">
            <a:avLst/>
          </a:prstGeom>
          <a:solidFill>
            <a:srgbClr val="000000">
              <a:alpha val="4000"/>
            </a:srgbClr>
          </a:solidFill>
          <a:ln/>
        </p:spPr>
      </p:sp>
      <p:sp>
        <p:nvSpPr>
          <p:cNvPr id="26" name="Text 24"/>
          <p:cNvSpPr/>
          <p:nvPr/>
        </p:nvSpPr>
        <p:spPr>
          <a:xfrm>
            <a:off x="1028819" y="5489972"/>
            <a:ext cx="1714143" cy="362903"/>
          </a:xfrm>
          <a:prstGeom prst="rect">
            <a:avLst/>
          </a:prstGeom>
          <a:noFill/>
          <a:ln/>
        </p:spPr>
        <p:txBody>
          <a:bodyPr wrap="none" lIns="0" tIns="0" rIns="0" bIns="0" rtlCol="0" anchor="t"/>
          <a:lstStyle/>
          <a:p>
            <a:pPr algn="ctr" indent="0" marL="0">
              <a:lnSpc>
                <a:spcPts val="2850"/>
              </a:lnSpc>
              <a:buNone/>
            </a:pPr>
            <a:r>
              <a:rPr lang="en-US" sz="1750" b="1" dirty="0">
                <a:solidFill>
                  <a:srgbClr val="2C2821"/>
                </a:solidFill>
                <a:latin typeface="Lora" pitchFamily="34" charset="0"/>
                <a:ea typeface="Lora" pitchFamily="34" charset="-122"/>
                <a:cs typeface="Lora" pitchFamily="34" charset="-120"/>
              </a:rPr>
              <a:t>Stories</a:t>
            </a:r>
            <a:endParaRPr lang="en-US" sz="1750" dirty="0"/>
          </a:p>
        </p:txBody>
      </p:sp>
      <p:sp>
        <p:nvSpPr>
          <p:cNvPr id="27" name="Text 25"/>
          <p:cNvSpPr/>
          <p:nvPr/>
        </p:nvSpPr>
        <p:spPr>
          <a:xfrm>
            <a:off x="3204210" y="5489972"/>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1.0</a:t>
            </a:r>
            <a:endParaRPr lang="en-US" sz="1750" dirty="0"/>
          </a:p>
        </p:txBody>
      </p:sp>
      <p:sp>
        <p:nvSpPr>
          <p:cNvPr id="28" name="Text 26"/>
          <p:cNvSpPr/>
          <p:nvPr/>
        </p:nvSpPr>
        <p:spPr>
          <a:xfrm>
            <a:off x="5375791" y="5489972"/>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1.0</a:t>
            </a:r>
            <a:endParaRPr lang="en-US" sz="1750" dirty="0"/>
          </a:p>
        </p:txBody>
      </p:sp>
      <p:sp>
        <p:nvSpPr>
          <p:cNvPr id="29" name="Text 27"/>
          <p:cNvSpPr/>
          <p:nvPr/>
        </p:nvSpPr>
        <p:spPr>
          <a:xfrm>
            <a:off x="7547372" y="5489972"/>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0.945</a:t>
            </a:r>
            <a:endParaRPr lang="en-US" sz="1750" dirty="0"/>
          </a:p>
        </p:txBody>
      </p:sp>
      <p:sp>
        <p:nvSpPr>
          <p:cNvPr id="30" name="Text 28"/>
          <p:cNvSpPr/>
          <p:nvPr/>
        </p:nvSpPr>
        <p:spPr>
          <a:xfrm>
            <a:off x="9718953" y="5489972"/>
            <a:ext cx="171033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36</a:t>
            </a:r>
            <a:endParaRPr lang="en-US" sz="1750" dirty="0"/>
          </a:p>
        </p:txBody>
      </p:sp>
      <p:sp>
        <p:nvSpPr>
          <p:cNvPr id="31" name="Text 29"/>
          <p:cNvSpPr/>
          <p:nvPr/>
        </p:nvSpPr>
        <p:spPr>
          <a:xfrm>
            <a:off x="11890534" y="5489972"/>
            <a:ext cx="1714143" cy="362903"/>
          </a:xfrm>
          <a:prstGeom prst="rect">
            <a:avLst/>
          </a:prstGeom>
          <a:noFill/>
          <a:ln/>
        </p:spPr>
        <p:txBody>
          <a:bodyPr wrap="none" lIns="0" tIns="0" rIns="0" bIns="0" rtlCol="0" anchor="t"/>
          <a:lstStyle/>
          <a:p>
            <a:pPr algn="ctr" indent="0" marL="0">
              <a:lnSpc>
                <a:spcPts val="2850"/>
              </a:lnSpc>
              <a:buNone/>
            </a:pPr>
            <a:r>
              <a:rPr lang="en-US" sz="1750" dirty="0">
                <a:solidFill>
                  <a:srgbClr val="2C2821"/>
                </a:solidFill>
                <a:latin typeface="Lora" pitchFamily="34" charset="0"/>
                <a:ea typeface="Lora" pitchFamily="34" charset="-122"/>
                <a:cs typeface="Lora" pitchFamily="34" charset="-120"/>
              </a:rPr>
              <a:t>0.914</a:t>
            </a:r>
            <a:endParaRPr lang="en-US" sz="1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695575"/>
          </a:xfrm>
          <a:prstGeom prst="rect">
            <a:avLst/>
          </a:prstGeom>
        </p:spPr>
      </p:pic>
      <p:sp>
        <p:nvSpPr>
          <p:cNvPr id="3" name="Text 0"/>
          <p:cNvSpPr/>
          <p:nvPr/>
        </p:nvSpPr>
        <p:spPr>
          <a:xfrm>
            <a:off x="754737" y="3290530"/>
            <a:ext cx="6855976" cy="673894"/>
          </a:xfrm>
          <a:prstGeom prst="rect">
            <a:avLst/>
          </a:prstGeom>
          <a:noFill/>
          <a:ln/>
        </p:spPr>
        <p:txBody>
          <a:bodyPr wrap="none" lIns="0" tIns="0" rIns="0" bIns="0" rtlCol="0" anchor="t"/>
          <a:lstStyle/>
          <a:p>
            <a:pPr algn="l" indent="0" marL="0">
              <a:lnSpc>
                <a:spcPts val="5300"/>
              </a:lnSpc>
              <a:buNone/>
            </a:pPr>
            <a:r>
              <a:rPr lang="en-US" sz="4200" dirty="0">
                <a:solidFill>
                  <a:srgbClr val="233E32"/>
                </a:solidFill>
                <a:latin typeface="Alice" pitchFamily="34" charset="0"/>
                <a:ea typeface="Alice" pitchFamily="34" charset="-122"/>
                <a:cs typeface="Alice" pitchFamily="34" charset="-120"/>
              </a:rPr>
              <a:t>Conclusion and Future Work</a:t>
            </a:r>
            <a:endParaRPr lang="en-US" sz="4200" dirty="0"/>
          </a:p>
        </p:txBody>
      </p:sp>
      <p:sp>
        <p:nvSpPr>
          <p:cNvPr id="4" name="Text 1"/>
          <p:cNvSpPr/>
          <p:nvPr/>
        </p:nvSpPr>
        <p:spPr>
          <a:xfrm>
            <a:off x="754737" y="4287798"/>
            <a:ext cx="13120926" cy="1724620"/>
          </a:xfrm>
          <a:prstGeom prst="rect">
            <a:avLst/>
          </a:prstGeom>
          <a:noFill/>
          <a:ln/>
        </p:spPr>
        <p:txBody>
          <a:bodyPr wrap="square" lIns="0" tIns="0" rIns="0" bIns="0" rtlCol="0" anchor="t"/>
          <a:lstStyle/>
          <a:p>
            <a:pPr algn="l" indent="0" marL="0">
              <a:lnSpc>
                <a:spcPts val="2700"/>
              </a:lnSpc>
              <a:buNone/>
            </a:pPr>
            <a:r>
              <a:rPr lang="en-US" sz="1650" dirty="0">
                <a:solidFill>
                  <a:srgbClr val="2C2821"/>
                </a:solidFill>
                <a:latin typeface="Lora" pitchFamily="34" charset="0"/>
                <a:ea typeface="Lora" pitchFamily="34" charset="-122"/>
                <a:cs typeface="Lora" pitchFamily="34" charset="-120"/>
              </a:rPr>
              <a:t>The Home Remedies Chatbot serves as a practical and user-friendly solution for individuals seeking natural remedies for common health concerns. By understanding user inputs in both text and voice formats, the chatbot delivers responses that align with traditional health practices. Its intelligent query handling ensures that user concerns are interpreted accurately, regardless of how they are phrased, and matches them with the most relevant remedies from a curated knowledge base along with implementing various other key features.</a:t>
            </a:r>
            <a:endParaRPr lang="en-US" sz="1650" dirty="0"/>
          </a:p>
        </p:txBody>
      </p:sp>
      <p:sp>
        <p:nvSpPr>
          <p:cNvPr id="5" name="Text 2"/>
          <p:cNvSpPr/>
          <p:nvPr/>
        </p:nvSpPr>
        <p:spPr>
          <a:xfrm>
            <a:off x="754737" y="6254948"/>
            <a:ext cx="13120926" cy="1379696"/>
          </a:xfrm>
          <a:prstGeom prst="rect">
            <a:avLst/>
          </a:prstGeom>
          <a:noFill/>
          <a:ln/>
        </p:spPr>
        <p:txBody>
          <a:bodyPr wrap="square" lIns="0" tIns="0" rIns="0" bIns="0" rtlCol="0" anchor="t"/>
          <a:lstStyle/>
          <a:p>
            <a:pPr algn="l" indent="0" marL="0">
              <a:lnSpc>
                <a:spcPts val="2700"/>
              </a:lnSpc>
              <a:buNone/>
            </a:pPr>
            <a:r>
              <a:rPr lang="en-US" sz="1650" dirty="0">
                <a:solidFill>
                  <a:srgbClr val="2C2821"/>
                </a:solidFill>
                <a:latin typeface="Lora" pitchFamily="34" charset="0"/>
                <a:ea typeface="Lora" pitchFamily="34" charset="-122"/>
                <a:cs typeface="Lora" pitchFamily="34" charset="-120"/>
              </a:rPr>
              <a:t> In the future, this chatbot can be enhanced by integrating image-based symptom detection (e.g., skin conditions), adding personalized recommendations based on user profiles, enabling multilingual support for broader accessibility, connecting with health APIs or wearable devices for real-time health monitoring, and incorporating a doctor consultation module when suitable remedies are unavailable.</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2025-05-14T15:21:20Z</dcterms:created>
  <dcterms:modified xsi:type="dcterms:W3CDTF">2025-05-14T15:21:20Z</dcterms:modified>
</cp:coreProperties>
</file>